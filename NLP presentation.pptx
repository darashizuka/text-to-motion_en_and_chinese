
<file path=[Content_Types].xml><?xml version="1.0" encoding="utf-8"?>
<Types xmlns="http://schemas.openxmlformats.org/package/2006/content-types">
  <Default ContentType="application/vnd.openxmlformats-officedocument.oleObject" Extension="bin"/>
  <Default ContentType="application/x-fontdata" Extension="fntdata"/>
  <Default ContentType="image/jpeg" Extension="jpeg"/>
  <Default ContentType="video/mp4" Extension="mp4"/>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16"/>
  </p:notesMasterIdLst>
  <p:sldIdLst>
    <p:sldId id="256" r:id="rId6"/>
    <p:sldId id="257" r:id="rId7"/>
    <p:sldId id="258" r:id="rId8"/>
    <p:sldId id="259" r:id="rId9"/>
    <p:sldId id="260" r:id="rId10"/>
    <p:sldId id="261" r:id="rId11"/>
    <p:sldId id="262" r:id="rId12"/>
    <p:sldId id="263" r:id="rId13"/>
    <p:sldId id="264" r:id="rId14"/>
    <p:sldId id="265" r:id="rId15"/>
  </p:sldIdLst>
  <p:sldSz cx="18288000" cy="10287000"/>
  <p:notesSz cx="6858000" cy="9144000"/>
  <p:embeddedFontLst>
    <p:embeddedFont>
      <p:font typeface="Canva Sans Bold" charset="1" panose="020B0803030501040103"/>
      <p:regular r:id="rId19"/>
    </p:embeddedFont>
    <p:embeddedFont>
      <p:font typeface="Canva Sans" charset="1" panose="020B0503030501040103"/>
      <p:regular r:id="rId2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notesMasters/notesMaster1.xml" Type="http://schemas.openxmlformats.org/officeDocument/2006/relationships/notesMaster"/><Relationship Id="rId17" Target="theme/theme2.xml" Type="http://schemas.openxmlformats.org/officeDocument/2006/relationships/theme"/><Relationship Id="rId18" Target="notesSlides/notesSlide1.xml" Type="http://schemas.openxmlformats.org/officeDocument/2006/relationships/notesSlide"/><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notesSlides/notesSlide2.xml" Type="http://schemas.openxmlformats.org/officeDocument/2006/relationships/notesSlide"/><Relationship Id="rId22" Target="notesSlides/notesSlide3.xml" Type="http://schemas.openxmlformats.org/officeDocument/2006/relationships/notesSlide"/><Relationship Id="rId23" Target="notesSlides/notesSlide4.xml" Type="http://schemas.openxmlformats.org/officeDocument/2006/relationships/notesSlide"/><Relationship Id="rId24" Target="notesSlides/notesSlide5.xml" Type="http://schemas.openxmlformats.org/officeDocument/2006/relationships/notesSlide"/><Relationship Id="rId25" Target="notesSlides/notesSlide6.xml" Type="http://schemas.openxmlformats.org/officeDocument/2006/relationships/notesSlide"/><Relationship Id="rId26" Target="notesSlides/notesSlide7.xml" Type="http://schemas.openxmlformats.org/officeDocument/2006/relationships/notesSlide"/><Relationship Id="rId27" Target="notesSlides/notesSlide8.xml" Type="http://schemas.openxmlformats.org/officeDocument/2006/relationships/notesSlide"/><Relationship Id="rId28" Target="notesSlides/notesSlide9.xml" Type="http://schemas.openxmlformats.org/officeDocument/2006/relationships/notesSlide"/><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Hi everyone, we're presenting our project on evaluating text-to-motion models across language backgrounds and instruction granularity.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Text-to-motion generation is the task of converting a natural language description, into a 3D human motion sequence. </a:t>
            </a:r>
          </a:p>
          <a:p>
            <a:r>
              <a:rPr lang="en-US"/>
              <a:t/>
            </a:r>
          </a:p>
          <a:p>
            <a:r>
              <a:rPr lang="en-US"/>
              <a:t>This is a rapidly growing area at the intersection of NLP and computer vision, with applications in entertainment and game animation, accessibility tools for people with disabilities, and robotics where agents need to understand human instructions.</a:t>
            </a:r>
          </a:p>
          <a:p>
            <a:r>
              <a:rPr lang="en-US"/>
              <a:t/>
            </a:r>
          </a:p>
          <a:p>
            <a:r>
              <a:rPr lang="en-US"/>
              <a:t>Current state-of-the-art approaches include diffusion-based models like MDM, VQ-based autoregressive models like T2M-GPT, and emerging multimodal LLMs. Most of these models rely on CLIP as their text encoder, which works well for English but raises a question: </a:t>
            </a:r>
          </a:p>
          <a:p>
            <a:r>
              <a:rPr lang="en-US"/>
              <a:t>what happens when users describe motion differently in a different language like chinese, or with different levels of detail? That is what we are trying to evaluate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This brings us to our core problem. Natural language descriptions of motion vary widely.   And a Chinese speaker might structure the same instruction completely differently than an English speaker. </a:t>
            </a:r>
          </a:p>
          <a:p>
            <a:r>
              <a:rPr lang="en-US"/>
              <a:t/>
            </a:r>
          </a:p>
          <a:p>
            <a:r>
              <a:rPr lang="en-US"/>
              <a:t>Existing text-to-motion models are almost exclusively trained and evaluated on English prompts, and they rarely test robustness to these kinds of linguistic variations.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Our objective is to study how the choice of text encoder affects motion generation quality, both within English and chinese. We compare three encoders: BiLSTM as a simple baseline, multilingual BERT for its cross-lingual transfer ability, and mT5 for its sequence-to-sequence multilingual understanding. We evaluate using both standard quantitative metrics and a human evaluation study.</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Our architecture follows the T2M-GPT framework. The pipeline has three stages. First, text goes into one of our three encoders — BiLSTM, mBERT, or mT5 — which produces a 512-dimensional text embedding. Second, this embedding conditions a GPT-based autoregressive decoder that generates discrete motion tokens. Third, a pre-trained VQ-VAE decodes those tokens back into continuous 3D motion sequences.</a:t>
            </a:r>
          </a:p>
          <a:p>
            <a:r>
              <a:rPr lang="en-US"/>
              <a:t/>
            </a:r>
          </a:p>
          <a:p>
            <a:r>
              <a:rPr lang="en-US"/>
              <a:t>The VQ-VAE is shared and frozen across all experiments — it was pre-trained on HumanML3D and acts as a motion tokenizer. This means the only variable across our three experiments is the text encoder, which makes the comparison fair.</a:t>
            </a:r>
          </a:p>
          <a:p>
            <a:r>
              <a:rPr lang="en-US"/>
              <a:t/>
            </a:r>
          </a:p>
          <a:p>
            <a:r>
              <a:rPr lang="en-US"/>
              <a:t>we use the encoders with a linear projection layer to map its 512-dimensional hidden states to the embedding size the GPT decoder expects. We fine-tune both the mT5 encoder and the projection layer jointly with the GPT decoder. For evaluation, we use the standard T2M evaluation network,</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We trained all three models on the HumanML3D dataset, which contains about 15,000 motion clips with 44,000 text descriptions. We evaluated on the official test split using standard metrics: FID measures the distributional distance between generated and real motions, R at K measures text-motion retrieval accuracy, and Diversity measures variety in generated motions.</a:t>
            </a:r>
          </a:p>
          <a:p>
            <a:r>
              <a:rPr lang="en-US"/>
              <a:t/>
            </a:r>
          </a:p>
          <a:p>
            <a:r>
              <a:rPr lang="en-US"/>
              <a:t>For human evaluation, we have 100 paired English-Chinese prompts spanning seven categories: simple locomotion, jumping, sitting and standing, arm movements, leg movements, compound actions, and style variations. Each prompt exists in both English and Chinese, giving us 200 total inputs. All three models generate motions for the same prompts, and we select which of the three motions best matches the text description. </a:t>
            </a:r>
          </a:p>
          <a:p>
            <a:r>
              <a:rPr lang="en-US"/>
              <a:t/>
            </a:r>
          </a:p>
          <a:p>
            <a:r>
              <a:rPr lang="en-US"/>
              <a:t>This lets us measure two things: which encoder produces the most faithful motions overall, and whether multilingual encoders like mBERT and mT5 maintain quality on Chinese prompts where BiLSTM is expected to fail.</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This is an example visualization. The text input is "the man throws a big left handed punch in the air".</a:t>
            </a:r>
          </a:p>
          <a:p>
            <a:r>
              <a:rPr lang="en-US"/>
              <a:t>As you can see, mBert performs the best as it looks clean and accurate. mT5 struggles but performs an action. The BiLSTM encoder struggles to map  textual semantics into the motion token space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Here I briefly summarize the quantitative results.We compare three different encoders: BiLSTM, Multilingual BERT, and mT5.</a:t>
            </a:r>
          </a:p>
          <a:p>
            <a:r>
              <a:rPr lang="en-US"/>
              <a:t/>
            </a:r>
          </a:p>
          <a:p>
            <a:r>
              <a:rPr lang="en-US"/>
              <a:t>Overall, Multilingual BERT and mT5 significantly outperform BiLSTM across all metrics, especially in recall, where we see large improvements in R@1, R@2, and R@3.</a:t>
            </a:r>
          </a:p>
          <a:p>
            <a:r>
              <a:rPr lang="en-US"/>
              <a:t/>
            </a:r>
          </a:p>
          <a:p>
            <a:r>
              <a:rPr lang="en-US"/>
              <a:t>They also achieve much higher diversity scores, indicating more varied generation results.</a:t>
            </a:r>
          </a:p>
          <a:p>
            <a:r>
              <a:rPr lang="en-US"/>
              <a:t/>
            </a:r>
          </a:p>
          <a:p>
            <a:r>
              <a:rPr lang="en-US"/>
              <a:t>Between the two, Multilingual BERT performs slightly better on recall, while mT5 achieves the best matching score.</a:t>
            </a:r>
          </a:p>
          <a:p>
            <a:r>
              <a:rPr lang="en-US"/>
              <a:t/>
            </a:r>
          </a:p>
          <a:p>
            <a:r>
              <a:rPr lang="en-US"/>
              <a:t>Overall, both transformer-based models show clear advantages over BiLSTM in both alignment and diversity.</a:t>
            </a:r>
          </a:p>
          <a:p>
            <a:r>
              <a:rPr lang="en-US"/>
              <a:t/>
            </a:r>
          </a:p>
          <a:p>
            <a:r>
              <a:rPr lang="en-US"/>
              <a:t/>
            </a:r>
          </a:p>
          <a:p>
            <a:r>
              <a:rPr lang="en-US"/>
              <a:t>Extra [DO NOT SPEAK]:</a:t>
            </a:r>
          </a:p>
          <a:p>
            <a:r>
              <a:rPr lang="en-US"/>
              <a:t>takes all your generated motions and all the ground truth motions, runs them through the evaluation network's motion encoder to get feature vectors. Computes the mean and covariance of each set, then measures the distance between those two distributions. If your model generates motions that "look like" real motion capture data statistically, FID is low. Your 0.186 means the distribution of your generated motions is very close to real.</a:t>
            </a:r>
          </a:p>
          <a:p>
            <a:r>
              <a:rPr lang="en-US"/>
              <a:t/>
            </a:r>
          </a:p>
          <a:p>
            <a:r>
              <a:rPr lang="en-US"/>
              <a:t>R@K (Recall at K) — Higher is better</a:t>
            </a:r>
          </a:p>
          <a:p>
            <a:r>
              <a:rPr lang="en-US"/>
              <a:t/>
            </a:r>
          </a:p>
          <a:p>
            <a:r>
              <a:rPr lang="en-US"/>
              <a:t>Takes a batch of 32 generated motions and their 32 text descriptions. Embeds all of them using the evaluation network (GloVe-based text encoder + motion encoder). For each motion, ranks all 32 texts by distance. R@1 asks: is the correct text the closest match? R@3 asks: is the correct text in the top 3? Your R@1 of 0.47 means 47% of the time, the evaluation network can correctly match your generated motion to its text on the first try. Cumulative R@3 of 0.78 means 78% of the time it's in the top 3.</a:t>
            </a:r>
          </a:p>
          <a:p>
            <a:r>
              <a:rPr lang="en-US"/>
              <a:t/>
            </a:r>
          </a:p>
          <a:p>
            <a:r>
              <a:rPr lang="en-US"/>
              <a:t>Matching Score — Lower is better</a:t>
            </a:r>
          </a:p>
          <a:p>
            <a:r>
              <a:rPr lang="en-US"/>
              <a:t/>
            </a:r>
          </a:p>
          <a:p>
            <a:r>
              <a:rPr lang="en-US"/>
              <a:t>The average Euclidean distance between each text embedding and its corresponding motion embedding from the evaluation network. It's literally distance_matrix.trace() / N. Lower means tighter alignment between what the text says and what the motion looks like. Your 2.96 means on average the text and motion embeddings are 2.96 apart in the evaluation network's feature space.</a:t>
            </a:r>
          </a:p>
          <a:p>
            <a:r>
              <a:rPr lang="en-US"/>
              <a:t/>
            </a:r>
          </a:p>
          <a:p>
            <a:r>
              <a:rPr lang="en-US"/>
              <a:t>Diversity — Closer to ground truth is better</a:t>
            </a:r>
          </a:p>
          <a:p>
            <a:r>
              <a:rPr lang="en-US"/>
              <a:t/>
            </a:r>
          </a:p>
          <a:p>
            <a:r>
              <a:rPr lang="en-US"/>
              <a:t>Randomly samples 300 pairs of generated motions, computes the average L2 distance between their feature vectors. If diversity is too low, your model is producing the same motion for everything. If too high, it's generating random noise. You want it close to the ground truth diversity. Your 10.24 is very close to ground truth, meaning your model produces appropriately varied motions.</a:t>
            </a:r>
          </a:p>
          <a:p>
            <a:r>
              <a:rPr lang="en-US"/>
              <a:t/>
            </a:r>
          </a:p>
          <a:p>
            <a:r>
              <a:rPr lang="en-US"/>
              <a:t>MultiModality :</a:t>
            </a:r>
          </a:p>
          <a:p>
            <a:r>
              <a:rPr lang="en-US"/>
              <a:t>Generates multiple motions for the same text prompt, then measures how different they are. High multimodality means the model can produce diverse motions for the same instruction, which is desirable — there are many valid ways to "walk forward."</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mT5 and mBERT have a natural advantage for cross-lingual motion generation since they can process Chinese input directly, whereas BiLSTM and CLIP-based systems cannot.</a:t>
            </a:r>
          </a:p>
          <a:p>
            <a:r>
              <a:rPr lang="en-US"/>
              <a:t/>
            </a:r>
          </a:p>
          <a:p>
            <a:r>
              <a:rPr lang="en-US"/>
              <a:t>The broader implication is that text-to-motion systems should be evaluated beyond standard English benchmarks. As these models move toward real-world deployment, robustness to linguistic diversity — different languages, different levels of instruction detail — becomes critical.</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jpeg" Type="http://schemas.openxmlformats.org/officeDocument/2006/relationships/image"/><Relationship Id="rId4" Target="../media/image2.png" Type="http://schemas.openxmlformats.org/officeDocument/2006/relationships/image"/><Relationship Id="rId5" Target="../media/image3.svg" Type="http://schemas.openxmlformats.org/officeDocument/2006/relationships/image"/><Relationship Id="rId6" Target="../media/image4.png" Type="http://schemas.openxmlformats.org/officeDocument/2006/relationships/image"/><Relationship Id="rId7" Target="../media/image5.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1.svg" Type="http://schemas.openxmlformats.org/officeDocument/2006/relationships/image"/><Relationship Id="rId11" Target="../media/image12.png" Type="http://schemas.openxmlformats.org/officeDocument/2006/relationships/image"/><Relationship Id="rId12" Target="../media/image13.svg" Type="http://schemas.openxmlformats.org/officeDocument/2006/relationships/image"/><Relationship Id="rId13" Target="../media/image14.png" Type="http://schemas.openxmlformats.org/officeDocument/2006/relationships/image"/><Relationship Id="rId14" Target="../media/image15.svg" Type="http://schemas.openxmlformats.org/officeDocument/2006/relationships/image"/><Relationship Id="rId15" Target="../media/image16.png" Type="http://schemas.openxmlformats.org/officeDocument/2006/relationships/image"/><Relationship Id="rId16" Target="../media/image17.svg" Type="http://schemas.openxmlformats.org/officeDocument/2006/relationships/image"/><Relationship Id="rId17" Target="../media/image18.png" Type="http://schemas.openxmlformats.org/officeDocument/2006/relationships/image"/><Relationship Id="rId18" Target="../media/image19.svg" Type="http://schemas.openxmlformats.org/officeDocument/2006/relationships/image"/><Relationship Id="rId19" Target="../media/image20.png" Type="http://schemas.openxmlformats.org/officeDocument/2006/relationships/image"/><Relationship Id="rId2" Target="../notesSlides/notesSlide2.xml" Type="http://schemas.openxmlformats.org/officeDocument/2006/relationships/notesSlide"/><Relationship Id="rId20" Target="../media/image21.sv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6.png" Type="http://schemas.openxmlformats.org/officeDocument/2006/relationships/image"/><Relationship Id="rId6" Target="../media/image7.svg" Type="http://schemas.openxmlformats.org/officeDocument/2006/relationships/image"/><Relationship Id="rId7" Target="../media/image8.png" Type="http://schemas.openxmlformats.org/officeDocument/2006/relationships/image"/><Relationship Id="rId8" Target="../media/image9.svg" Type="http://schemas.openxmlformats.org/officeDocument/2006/relationships/image"/><Relationship Id="rId9" Target="../media/image10.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2.png" Type="http://schemas.openxmlformats.org/officeDocument/2006/relationships/image"/><Relationship Id="rId4" Target="../media/image3.svg" Type="http://schemas.openxmlformats.org/officeDocument/2006/relationships/image"/><Relationship Id="rId5" Target="../media/image12.png" Type="http://schemas.openxmlformats.org/officeDocument/2006/relationships/image"/><Relationship Id="rId6" Target="../media/image13.svg" Type="http://schemas.openxmlformats.org/officeDocument/2006/relationships/image"/><Relationship Id="rId7" Target="../media/image22.png" Type="http://schemas.openxmlformats.org/officeDocument/2006/relationships/image"/><Relationship Id="rId8" Target="../media/image23.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2.png" Type="http://schemas.openxmlformats.org/officeDocument/2006/relationships/image"/><Relationship Id="rId4" Target="../media/image3.svg" Type="http://schemas.openxmlformats.org/officeDocument/2006/relationships/image"/><Relationship Id="rId5" Target="../media/image24.png" Type="http://schemas.openxmlformats.org/officeDocument/2006/relationships/image"/><Relationship Id="rId6" Target="../media/image25.svg" Type="http://schemas.openxmlformats.org/officeDocument/2006/relationships/image"/><Relationship Id="rId7" Target="../media/image26.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0.svg" Type="http://schemas.openxmlformats.org/officeDocument/2006/relationships/image"/><Relationship Id="rId2" Target="../notesSlides/notesSlide5.xml" Type="http://schemas.openxmlformats.org/officeDocument/2006/relationships/notesSlide"/><Relationship Id="rId3" Target="../media/image27.png" Type="http://schemas.openxmlformats.org/officeDocument/2006/relationships/image"/><Relationship Id="rId4" Target="../media/image22.png" Type="http://schemas.openxmlformats.org/officeDocument/2006/relationships/image"/><Relationship Id="rId5" Target="../media/image23.svg" Type="http://schemas.openxmlformats.org/officeDocument/2006/relationships/image"/><Relationship Id="rId6" Target="../media/image2.png" Type="http://schemas.openxmlformats.org/officeDocument/2006/relationships/image"/><Relationship Id="rId7" Target="../media/image3.svg" Type="http://schemas.openxmlformats.org/officeDocument/2006/relationships/image"/><Relationship Id="rId8" Target="../media/image28.png" Type="http://schemas.openxmlformats.org/officeDocument/2006/relationships/image"/><Relationship Id="rId9" Target="../media/image29.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4.jpeg" Type="http://schemas.openxmlformats.org/officeDocument/2006/relationships/image"/><Relationship Id="rId11" Target="../media/VAHHi31lfiI.mp4" Type="http://schemas.openxmlformats.org/officeDocument/2006/relationships/video"/><Relationship Id="rId12" Target="../media/VAHHi31lfiI.mp4" Type="http://schemas.microsoft.com/office/2007/relationships/media"/><Relationship Id="rId2" Target="../notesSlides/notesSlide6.xml" Type="http://schemas.openxmlformats.org/officeDocument/2006/relationships/notesSlide"/><Relationship Id="rId3" Target="../media/image2.png" Type="http://schemas.openxmlformats.org/officeDocument/2006/relationships/image"/><Relationship Id="rId4" Target="../media/image3.svg" Type="http://schemas.openxmlformats.org/officeDocument/2006/relationships/image"/><Relationship Id="rId5" Target="../media/image31.png" Type="http://schemas.openxmlformats.org/officeDocument/2006/relationships/image"/><Relationship Id="rId6" Target="../media/image32.svg" Type="http://schemas.openxmlformats.org/officeDocument/2006/relationships/image"/><Relationship Id="rId7" Target="../media/image33.jpeg" Type="http://schemas.openxmlformats.org/officeDocument/2006/relationships/image"/><Relationship Id="rId8" Target="../media/VAHHi28PTZU.mp4" Type="http://schemas.openxmlformats.org/officeDocument/2006/relationships/video"/><Relationship Id="rId9" Target="../media/VAHHi28PTZU.mp4" Type="http://schemas.microsoft.com/office/2007/relationships/media"/></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10" Target="../media/VAHHmZxIsDg.mp4" Type="http://schemas.openxmlformats.org/officeDocument/2006/relationships/video"/><Relationship Id="rId11" Target="../media/VAHHmZxIsDg.mp4" Type="http://schemas.microsoft.com/office/2007/relationships/media"/><Relationship Id="rId12" Target="../media/image38.jpeg" Type="http://schemas.openxmlformats.org/officeDocument/2006/relationships/image"/><Relationship Id="rId13" Target="../media/VAHHmWPWuL0.mp4" Type="http://schemas.openxmlformats.org/officeDocument/2006/relationships/video"/><Relationship Id="rId14" Target="../media/VAHHmWPWuL0.mp4" Type="http://schemas.microsoft.com/office/2007/relationships/media"/><Relationship Id="rId15" Target="../media/image22.png" Type="http://schemas.openxmlformats.org/officeDocument/2006/relationships/image"/><Relationship Id="rId16" Target="../media/image23.svg" Type="http://schemas.openxmlformats.org/officeDocument/2006/relationships/image"/><Relationship Id="rId17" Target="../media/image39.jpeg" Type="http://schemas.openxmlformats.org/officeDocument/2006/relationships/image"/><Relationship Id="rId18" Target="../media/VAHHnFHFKPA.mp4" Type="http://schemas.openxmlformats.org/officeDocument/2006/relationships/video"/><Relationship Id="rId19" Target="../media/VAHHnFHFKPA.mp4" Type="http://schemas.microsoft.com/office/2007/relationships/media"/><Relationship Id="rId2" Target="../notesSlides/notesSlide7.xml" Type="http://schemas.openxmlformats.org/officeDocument/2006/relationships/notesSlide"/><Relationship Id="rId20" Target="../media/image40.jpeg" Type="http://schemas.openxmlformats.org/officeDocument/2006/relationships/image"/><Relationship Id="rId21" Target="../media/VAHHnFLtwVc.mp4" Type="http://schemas.openxmlformats.org/officeDocument/2006/relationships/video"/><Relationship Id="rId22" Target="../media/VAHHnFLtwVc.mp4" Type="http://schemas.microsoft.com/office/2007/relationships/media"/><Relationship Id="rId3" Target="../media/image35.jpeg" Type="http://schemas.openxmlformats.org/officeDocument/2006/relationships/image"/><Relationship Id="rId4" Target="../media/VAHHlxEEx0E.mp4" Type="http://schemas.openxmlformats.org/officeDocument/2006/relationships/video"/><Relationship Id="rId5" Target="../media/VAHHlxEEx0E.mp4" Type="http://schemas.microsoft.com/office/2007/relationships/media"/><Relationship Id="rId6" Target="../media/image36.jpeg" Type="http://schemas.openxmlformats.org/officeDocument/2006/relationships/image"/><Relationship Id="rId7" Target="../media/VAHHl0eL-1Q.mp4" Type="http://schemas.openxmlformats.org/officeDocument/2006/relationships/video"/><Relationship Id="rId8" Target="../media/VAHHl0eL-1Q.mp4" Type="http://schemas.microsoft.com/office/2007/relationships/media"/><Relationship Id="rId9" Target="../media/image37.jpe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 Id="rId3" Target="../media/image41.png" Type="http://schemas.openxmlformats.org/officeDocument/2006/relationships/image"/><Relationship Id="rId4" Target="../embeddings/oleObject1.bin" Type="http://schemas.openxmlformats.org/officeDocument/2006/relationships/oleObject"/><Relationship Id="rId5" Target="../media/image31.png" Type="http://schemas.openxmlformats.org/officeDocument/2006/relationships/image"/><Relationship Id="rId6" Target="../media/image32.svg" Type="http://schemas.openxmlformats.org/officeDocument/2006/relationships/image"/><Relationship Id="rId7" Target="../media/image12.png" Type="http://schemas.openxmlformats.org/officeDocument/2006/relationships/image"/><Relationship Id="rId8" Target="../media/image13.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9.xml" Type="http://schemas.openxmlformats.org/officeDocument/2006/relationships/notesSlide"/><Relationship Id="rId3" Target="../media/image42.png" Type="http://schemas.openxmlformats.org/officeDocument/2006/relationships/image"/><Relationship Id="rId4" Target="../media/image43.svg" Type="http://schemas.openxmlformats.org/officeDocument/2006/relationships/image"/><Relationship Id="rId5" Target="../media/image44.png" Type="http://schemas.openxmlformats.org/officeDocument/2006/relationships/image"/><Relationship Id="rId6" Target="../media/image45.svg" Type="http://schemas.openxmlformats.org/officeDocument/2006/relationships/image"/><Relationship Id="rId7" Target="../media/image2.png" Type="http://schemas.openxmlformats.org/officeDocument/2006/relationships/image"/><Relationship Id="rId8" Target="../media/image3.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12.png" Type="http://schemas.openxmlformats.org/officeDocument/2006/relationships/image"/><Relationship Id="rId5" Target="../media/image13.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0" r="0" b="0"/>
            </a:stretch>
          </a:blipFill>
        </p:spPr>
      </p:sp>
      <p:sp>
        <p:nvSpPr>
          <p:cNvPr name="Freeform 3" id="3"/>
          <p:cNvSpPr/>
          <p:nvPr/>
        </p:nvSpPr>
        <p:spPr>
          <a:xfrm flipH="false" flipV="false" rot="0">
            <a:off x="-6932201" y="-2305141"/>
            <a:ext cx="11563441" cy="11563441"/>
          </a:xfrm>
          <a:custGeom>
            <a:avLst/>
            <a:gdLst/>
            <a:ahLst/>
            <a:cxnLst/>
            <a:rect r="r" b="b" t="t" l="l"/>
            <a:pathLst>
              <a:path h="11563441" w="11563441">
                <a:moveTo>
                  <a:pt x="0" y="0"/>
                </a:moveTo>
                <a:lnTo>
                  <a:pt x="11563442" y="0"/>
                </a:lnTo>
                <a:lnTo>
                  <a:pt x="11563442" y="11563441"/>
                </a:lnTo>
                <a:lnTo>
                  <a:pt x="0" y="11563441"/>
                </a:lnTo>
                <a:lnTo>
                  <a:pt x="0" y="0"/>
                </a:lnTo>
                <a:close/>
              </a:path>
            </a:pathLst>
          </a:custGeom>
          <a:blipFill>
            <a:blip r:embed="rId4">
              <a:alphaModFix amt="39000"/>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2406520" y="-2562523"/>
            <a:ext cx="20732620" cy="13594702"/>
          </a:xfrm>
          <a:custGeom>
            <a:avLst/>
            <a:gdLst/>
            <a:ahLst/>
            <a:cxnLst/>
            <a:rect r="r" b="b" t="t" l="l"/>
            <a:pathLst>
              <a:path h="13594702" w="20732620">
                <a:moveTo>
                  <a:pt x="0" y="0"/>
                </a:moveTo>
                <a:lnTo>
                  <a:pt x="20732620" y="0"/>
                </a:lnTo>
                <a:lnTo>
                  <a:pt x="20732620" y="13594702"/>
                </a:lnTo>
                <a:lnTo>
                  <a:pt x="0" y="13594702"/>
                </a:lnTo>
                <a:lnTo>
                  <a:pt x="0" y="0"/>
                </a:lnTo>
                <a:close/>
              </a:path>
            </a:pathLst>
          </a:custGeom>
          <a:blipFill>
            <a:blip r:embed="rId6"/>
            <a:stretch>
              <a:fillRect l="0" t="-26252" r="0" b="-26252"/>
            </a:stretch>
          </a:blipFill>
        </p:spPr>
      </p:sp>
      <p:sp>
        <p:nvSpPr>
          <p:cNvPr name="Freeform 5" id="5"/>
          <p:cNvSpPr/>
          <p:nvPr/>
        </p:nvSpPr>
        <p:spPr>
          <a:xfrm flipH="false" flipV="false" rot="0">
            <a:off x="10113081" y="4234828"/>
            <a:ext cx="11563441" cy="11563441"/>
          </a:xfrm>
          <a:custGeom>
            <a:avLst/>
            <a:gdLst/>
            <a:ahLst/>
            <a:cxnLst/>
            <a:rect r="r" b="b" t="t" l="l"/>
            <a:pathLst>
              <a:path h="11563441" w="11563441">
                <a:moveTo>
                  <a:pt x="0" y="0"/>
                </a:moveTo>
                <a:lnTo>
                  <a:pt x="11563442" y="0"/>
                </a:lnTo>
                <a:lnTo>
                  <a:pt x="11563442" y="11563442"/>
                </a:lnTo>
                <a:lnTo>
                  <a:pt x="0" y="11563442"/>
                </a:lnTo>
                <a:lnTo>
                  <a:pt x="0" y="0"/>
                </a:lnTo>
                <a:close/>
              </a:path>
            </a:pathLst>
          </a:custGeom>
          <a:blipFill>
            <a:blip r:embed="rId4">
              <a:alphaModFix amt="31999"/>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10934584" y="2026395"/>
            <a:ext cx="6615508" cy="4743912"/>
          </a:xfrm>
          <a:custGeom>
            <a:avLst/>
            <a:gdLst/>
            <a:ahLst/>
            <a:cxnLst/>
            <a:rect r="r" b="b" t="t" l="l"/>
            <a:pathLst>
              <a:path h="4743912" w="6615508">
                <a:moveTo>
                  <a:pt x="0" y="0"/>
                </a:moveTo>
                <a:lnTo>
                  <a:pt x="6615508" y="0"/>
                </a:lnTo>
                <a:lnTo>
                  <a:pt x="6615508" y="4743913"/>
                </a:lnTo>
                <a:lnTo>
                  <a:pt x="0" y="4743913"/>
                </a:lnTo>
                <a:lnTo>
                  <a:pt x="0" y="0"/>
                </a:lnTo>
                <a:close/>
              </a:path>
            </a:pathLst>
          </a:custGeom>
          <a:blipFill>
            <a:blip r:embed="rId7"/>
            <a:stretch>
              <a:fillRect l="-16719" t="0" r="-12220" b="0"/>
            </a:stretch>
          </a:blipFill>
        </p:spPr>
      </p:sp>
      <p:sp>
        <p:nvSpPr>
          <p:cNvPr name="TextBox 7" id="7"/>
          <p:cNvSpPr txBox="true"/>
          <p:nvPr/>
        </p:nvSpPr>
        <p:spPr>
          <a:xfrm rot="0">
            <a:off x="1364529" y="2102595"/>
            <a:ext cx="9204440" cy="4967476"/>
          </a:xfrm>
          <a:prstGeom prst="rect">
            <a:avLst/>
          </a:prstGeom>
        </p:spPr>
        <p:txBody>
          <a:bodyPr anchor="t" rtlCol="false" tIns="0" lIns="0" bIns="0" rIns="0">
            <a:spAutoFit/>
          </a:bodyPr>
          <a:lstStyle/>
          <a:p>
            <a:pPr algn="l">
              <a:lnSpc>
                <a:spcPts val="5615"/>
              </a:lnSpc>
            </a:pPr>
            <a:r>
              <a:rPr lang="en-US" sz="5399" b="true">
                <a:solidFill>
                  <a:srgbClr val="FFFFFF"/>
                </a:solidFill>
                <a:latin typeface="Canva Sans Bold"/>
                <a:ea typeface="Canva Sans Bold"/>
                <a:cs typeface="Canva Sans Bold"/>
                <a:sym typeface="Canva Sans Bold"/>
              </a:rPr>
              <a:t>Evaluating Text-to-Motion Models</a:t>
            </a:r>
          </a:p>
          <a:p>
            <a:pPr algn="l">
              <a:lnSpc>
                <a:spcPts val="5615"/>
              </a:lnSpc>
            </a:pPr>
            <a:r>
              <a:rPr lang="en-US" sz="5399" b="true">
                <a:solidFill>
                  <a:srgbClr val="FFFFFF"/>
                </a:solidFill>
                <a:latin typeface="Canva Sans Bold"/>
                <a:ea typeface="Canva Sans Bold"/>
                <a:cs typeface="Canva Sans Bold"/>
                <a:sym typeface="Canva Sans Bold"/>
              </a:rPr>
              <a:t>Across Language Backgrounds</a:t>
            </a:r>
          </a:p>
          <a:p>
            <a:pPr algn="l">
              <a:lnSpc>
                <a:spcPts val="5615"/>
              </a:lnSpc>
            </a:pPr>
            <a:r>
              <a:rPr lang="en-US" sz="5399" b="true">
                <a:solidFill>
                  <a:srgbClr val="FFFFFF"/>
                </a:solidFill>
                <a:latin typeface="Canva Sans Bold"/>
                <a:ea typeface="Canva Sans Bold"/>
                <a:cs typeface="Canva Sans Bold"/>
                <a:sym typeface="Canva Sans Bold"/>
              </a:rPr>
              <a:t>and Instruction Granularity</a:t>
            </a:r>
          </a:p>
          <a:p>
            <a:pPr algn="l">
              <a:lnSpc>
                <a:spcPts val="5615"/>
              </a:lnSpc>
            </a:pPr>
          </a:p>
          <a:p>
            <a:pPr algn="l">
              <a:lnSpc>
                <a:spcPts val="5615"/>
              </a:lnSpc>
            </a:pPr>
          </a:p>
        </p:txBody>
      </p:sp>
      <p:sp>
        <p:nvSpPr>
          <p:cNvPr name="TextBox 8" id="8"/>
          <p:cNvSpPr txBox="true"/>
          <p:nvPr/>
        </p:nvSpPr>
        <p:spPr>
          <a:xfrm rot="0">
            <a:off x="1364529" y="7838573"/>
            <a:ext cx="7779471" cy="815340"/>
          </a:xfrm>
          <a:prstGeom prst="rect">
            <a:avLst/>
          </a:prstGeom>
        </p:spPr>
        <p:txBody>
          <a:bodyPr anchor="t" rtlCol="false" tIns="0" lIns="0" bIns="0" rIns="0">
            <a:spAutoFit/>
          </a:bodyPr>
          <a:lstStyle/>
          <a:p>
            <a:pPr algn="l">
              <a:lnSpc>
                <a:spcPts val="3359"/>
              </a:lnSpc>
              <a:spcBef>
                <a:spcPct val="0"/>
              </a:spcBef>
            </a:pPr>
            <a:r>
              <a:rPr lang="en-US" sz="2400">
                <a:solidFill>
                  <a:srgbClr val="FFFFFF"/>
                </a:solidFill>
                <a:latin typeface="Canva Sans"/>
                <a:ea typeface="Canva Sans"/>
                <a:cs typeface="Canva Sans"/>
                <a:sym typeface="Canva Sans"/>
              </a:rPr>
              <a:t>Angie Song (as620), Serena(Xin) You (xy68), Shizuka Dara (sd205), Tanishka Sonar (ts158)</a:t>
            </a:r>
          </a:p>
        </p:txBody>
      </p:sp>
      <p:sp>
        <p:nvSpPr>
          <p:cNvPr name="TextBox 9" id="9"/>
          <p:cNvSpPr txBox="true"/>
          <p:nvPr/>
        </p:nvSpPr>
        <p:spPr>
          <a:xfrm rot="0">
            <a:off x="1364529" y="8754177"/>
            <a:ext cx="7779471" cy="381411"/>
          </a:xfrm>
          <a:prstGeom prst="rect">
            <a:avLst/>
          </a:prstGeom>
        </p:spPr>
        <p:txBody>
          <a:bodyPr anchor="t" rtlCol="false" tIns="0" lIns="0" bIns="0" rIns="0">
            <a:spAutoFit/>
          </a:bodyPr>
          <a:lstStyle/>
          <a:p>
            <a:pPr algn="l">
              <a:lnSpc>
                <a:spcPts val="3220"/>
              </a:lnSpc>
              <a:spcBef>
                <a:spcPct val="0"/>
              </a:spcBef>
            </a:pPr>
            <a:r>
              <a:rPr lang="en-US" sz="2300">
                <a:solidFill>
                  <a:srgbClr val="FFFFFF"/>
                </a:solidFill>
                <a:latin typeface="Canva Sans"/>
                <a:ea typeface="Canva Sans"/>
                <a:cs typeface="Canva Sans"/>
                <a:sym typeface="Canva Sans"/>
              </a:rPr>
              <a:t>Prof. Hanjie Chen (Ph.D)</a:t>
            </a:r>
          </a:p>
        </p:txBody>
      </p:sp>
      <p:sp>
        <p:nvSpPr>
          <p:cNvPr name="TextBox 10" id="10"/>
          <p:cNvSpPr txBox="true"/>
          <p:nvPr/>
        </p:nvSpPr>
        <p:spPr>
          <a:xfrm rot="0">
            <a:off x="17550092" y="9380220"/>
            <a:ext cx="175766" cy="448310"/>
          </a:xfrm>
          <a:prstGeom prst="rect">
            <a:avLst/>
          </a:prstGeom>
        </p:spPr>
        <p:txBody>
          <a:bodyPr anchor="t" rtlCol="false" tIns="0" lIns="0" bIns="0" rIns="0">
            <a:spAutoFit/>
          </a:bodyPr>
          <a:lstStyle/>
          <a:p>
            <a:pPr algn="ctr">
              <a:lnSpc>
                <a:spcPts val="3640"/>
              </a:lnSpc>
            </a:pPr>
            <a:r>
              <a:rPr lang="en-US" sz="2600">
                <a:solidFill>
                  <a:srgbClr val="FFFFFF"/>
                </a:solidFill>
                <a:latin typeface="Canva Sans"/>
                <a:ea typeface="Canva Sans"/>
                <a:cs typeface="Canva Sans"/>
                <a:sym typeface="Canva Sans"/>
              </a:rPr>
              <a:t>1</a:t>
            </a:r>
          </a:p>
        </p:txBody>
      </p:sp>
      <p:sp>
        <p:nvSpPr>
          <p:cNvPr name="TextBox 11" id="11"/>
          <p:cNvSpPr txBox="true"/>
          <p:nvPr/>
        </p:nvSpPr>
        <p:spPr>
          <a:xfrm rot="0">
            <a:off x="1364529" y="9210675"/>
            <a:ext cx="7779471" cy="389255"/>
          </a:xfrm>
          <a:prstGeom prst="rect">
            <a:avLst/>
          </a:prstGeom>
        </p:spPr>
        <p:txBody>
          <a:bodyPr anchor="t" rtlCol="false" tIns="0" lIns="0" bIns="0" rIns="0">
            <a:spAutoFit/>
          </a:bodyPr>
          <a:lstStyle/>
          <a:p>
            <a:pPr algn="l">
              <a:lnSpc>
                <a:spcPts val="3220"/>
              </a:lnSpc>
              <a:spcBef>
                <a:spcPct val="0"/>
              </a:spcBef>
            </a:pPr>
            <a:r>
              <a:rPr lang="en-US" sz="2300">
                <a:solidFill>
                  <a:srgbClr val="FFFFFF"/>
                </a:solidFill>
                <a:latin typeface="Canva Sans"/>
                <a:ea typeface="Canva Sans"/>
                <a:cs typeface="Canva Sans"/>
                <a:sym typeface="Canva Sans"/>
              </a:rPr>
              <a:t>Date : 22</a:t>
            </a:r>
            <a:r>
              <a:rPr lang="en-US" sz="2300">
                <a:solidFill>
                  <a:srgbClr val="FFFFFF"/>
                </a:solidFill>
                <a:latin typeface="Canva Sans"/>
                <a:ea typeface="Canva Sans"/>
                <a:cs typeface="Canva Sans"/>
                <a:sym typeface="Canva Sans"/>
              </a:rPr>
              <a:t>nd</a:t>
            </a:r>
            <a:r>
              <a:rPr lang="en-US" sz="2300">
                <a:solidFill>
                  <a:srgbClr val="FFFFFF"/>
                </a:solidFill>
                <a:latin typeface="Canva Sans"/>
                <a:ea typeface="Canva Sans"/>
                <a:cs typeface="Canva Sans"/>
                <a:sym typeface="Canva Sans"/>
              </a:rPr>
              <a:t> April 2026</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071846"/>
        </a:solidFill>
      </p:bgPr>
    </p:bg>
    <p:spTree>
      <p:nvGrpSpPr>
        <p:cNvPr id="1" name=""/>
        <p:cNvGrpSpPr/>
        <p:nvPr/>
      </p:nvGrpSpPr>
      <p:grpSpPr>
        <a:xfrm>
          <a:off x="0" y="0"/>
          <a:ext cx="0" cy="0"/>
          <a:chOff x="0" y="0"/>
          <a:chExt cx="0" cy="0"/>
        </a:xfrm>
      </p:grpSpPr>
      <p:sp>
        <p:nvSpPr>
          <p:cNvPr name="Freeform 2" id="2"/>
          <p:cNvSpPr/>
          <p:nvPr/>
        </p:nvSpPr>
        <p:spPr>
          <a:xfrm flipH="false" flipV="false" rot="0">
            <a:off x="11891146" y="185533"/>
            <a:ext cx="11563441" cy="11563441"/>
          </a:xfrm>
          <a:custGeom>
            <a:avLst/>
            <a:gdLst/>
            <a:ahLst/>
            <a:cxnLst/>
            <a:rect r="r" b="b" t="t" l="l"/>
            <a:pathLst>
              <a:path h="11563441" w="11563441">
                <a:moveTo>
                  <a:pt x="0" y="0"/>
                </a:moveTo>
                <a:lnTo>
                  <a:pt x="11563441" y="0"/>
                </a:lnTo>
                <a:lnTo>
                  <a:pt x="11563441" y="11563441"/>
                </a:lnTo>
                <a:lnTo>
                  <a:pt x="0" y="11563441"/>
                </a:lnTo>
                <a:lnTo>
                  <a:pt x="0" y="0"/>
                </a:lnTo>
                <a:close/>
              </a:path>
            </a:pathLst>
          </a:custGeom>
          <a:blipFill>
            <a:blip r:embed="rId3">
              <a:alphaModFix amt="50000"/>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6532397" y="-4536892"/>
            <a:ext cx="11563441" cy="11563441"/>
          </a:xfrm>
          <a:custGeom>
            <a:avLst/>
            <a:gdLst/>
            <a:ahLst/>
            <a:cxnLst/>
            <a:rect r="r" b="b" t="t" l="l"/>
            <a:pathLst>
              <a:path h="11563441" w="11563441">
                <a:moveTo>
                  <a:pt x="0" y="0"/>
                </a:moveTo>
                <a:lnTo>
                  <a:pt x="11563442" y="0"/>
                </a:lnTo>
                <a:lnTo>
                  <a:pt x="11563442" y="11563441"/>
                </a:lnTo>
                <a:lnTo>
                  <a:pt x="0" y="11563441"/>
                </a:lnTo>
                <a:lnTo>
                  <a:pt x="0" y="0"/>
                </a:lnTo>
                <a:close/>
              </a:path>
            </a:pathLst>
          </a:custGeom>
          <a:blipFill>
            <a:blip r:embed="rId3">
              <a:alphaModFix amt="50000"/>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1891146" y="1218025"/>
            <a:ext cx="2858948" cy="2488749"/>
          </a:xfrm>
          <a:custGeom>
            <a:avLst/>
            <a:gdLst/>
            <a:ahLst/>
            <a:cxnLst/>
            <a:rect r="r" b="b" t="t" l="l"/>
            <a:pathLst>
              <a:path h="2488749" w="2858948">
                <a:moveTo>
                  <a:pt x="0" y="0"/>
                </a:moveTo>
                <a:lnTo>
                  <a:pt x="2858948" y="0"/>
                </a:lnTo>
                <a:lnTo>
                  <a:pt x="2858948" y="2488749"/>
                </a:lnTo>
                <a:lnTo>
                  <a:pt x="0" y="2488749"/>
                </a:lnTo>
                <a:lnTo>
                  <a:pt x="0" y="0"/>
                </a:lnTo>
                <a:close/>
              </a:path>
            </a:pathLst>
          </a:custGeom>
          <a:blipFill>
            <a:blip r:embed="rId5">
              <a:extLst>
                <a:ext uri="{96DAC541-7B7A-43D3-8B79-37D633B846F1}">
                  <asvg:svgBlip xmlns:asvg="http://schemas.microsoft.com/office/drawing/2016/SVG/main" r:embed="rId6"/>
                </a:ext>
              </a:extLst>
            </a:blip>
            <a:stretch>
              <a:fillRect l="0" t="0" r="-91848" b="0"/>
            </a:stretch>
          </a:blipFill>
        </p:spPr>
      </p:sp>
      <p:sp>
        <p:nvSpPr>
          <p:cNvPr name="Freeform 5" id="5"/>
          <p:cNvSpPr/>
          <p:nvPr/>
        </p:nvSpPr>
        <p:spPr>
          <a:xfrm flipH="false" flipV="false" rot="0">
            <a:off x="12304922" y="6740382"/>
            <a:ext cx="1553522" cy="1950770"/>
          </a:xfrm>
          <a:custGeom>
            <a:avLst/>
            <a:gdLst/>
            <a:ahLst/>
            <a:cxnLst/>
            <a:rect r="r" b="b" t="t" l="l"/>
            <a:pathLst>
              <a:path h="1950770" w="1553522">
                <a:moveTo>
                  <a:pt x="0" y="0"/>
                </a:moveTo>
                <a:lnTo>
                  <a:pt x="1553522" y="0"/>
                </a:lnTo>
                <a:lnTo>
                  <a:pt x="1553522" y="1950770"/>
                </a:lnTo>
                <a:lnTo>
                  <a:pt x="0" y="195077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6" id="6"/>
          <p:cNvSpPr/>
          <p:nvPr/>
        </p:nvSpPr>
        <p:spPr>
          <a:xfrm flipH="false" flipV="false" rot="0">
            <a:off x="13858444" y="7305426"/>
            <a:ext cx="1312014" cy="2523103"/>
          </a:xfrm>
          <a:custGeom>
            <a:avLst/>
            <a:gdLst/>
            <a:ahLst/>
            <a:cxnLst/>
            <a:rect r="r" b="b" t="t" l="l"/>
            <a:pathLst>
              <a:path h="2523103" w="1312014">
                <a:moveTo>
                  <a:pt x="0" y="0"/>
                </a:moveTo>
                <a:lnTo>
                  <a:pt x="1312013" y="0"/>
                </a:lnTo>
                <a:lnTo>
                  <a:pt x="1312013" y="2523104"/>
                </a:lnTo>
                <a:lnTo>
                  <a:pt x="0" y="2523104"/>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7" id="7"/>
          <p:cNvSpPr/>
          <p:nvPr/>
        </p:nvSpPr>
        <p:spPr>
          <a:xfrm flipH="false" flipV="false" rot="0">
            <a:off x="15771485" y="510964"/>
            <a:ext cx="9300522" cy="9265072"/>
          </a:xfrm>
          <a:custGeom>
            <a:avLst/>
            <a:gdLst/>
            <a:ahLst/>
            <a:cxnLst/>
            <a:rect r="r" b="b" t="t" l="l"/>
            <a:pathLst>
              <a:path h="9265072" w="9300522">
                <a:moveTo>
                  <a:pt x="0" y="0"/>
                </a:moveTo>
                <a:lnTo>
                  <a:pt x="9300522" y="0"/>
                </a:lnTo>
                <a:lnTo>
                  <a:pt x="9300522" y="9265072"/>
                </a:lnTo>
                <a:lnTo>
                  <a:pt x="0" y="9265072"/>
                </a:lnTo>
                <a:lnTo>
                  <a:pt x="0" y="0"/>
                </a:lnTo>
                <a:close/>
              </a:path>
            </a:pathLst>
          </a:custGeom>
          <a:blipFill>
            <a:blip r:embed="rId11">
              <a:alphaModFix amt="18999"/>
              <a:extLst>
                <a:ext uri="{96DAC541-7B7A-43D3-8B79-37D633B846F1}">
                  <asvg:svgBlip xmlns:asvg="http://schemas.microsoft.com/office/drawing/2016/SVG/main" r:embed="rId12"/>
                </a:ext>
              </a:extLst>
            </a:blip>
            <a:stretch>
              <a:fillRect l="0" t="0" r="0" b="0"/>
            </a:stretch>
          </a:blipFill>
        </p:spPr>
      </p:sp>
      <p:sp>
        <p:nvSpPr>
          <p:cNvPr name="Freeform 8" id="8"/>
          <p:cNvSpPr/>
          <p:nvPr/>
        </p:nvSpPr>
        <p:spPr>
          <a:xfrm flipH="false" flipV="false" rot="0">
            <a:off x="15313679" y="6478438"/>
            <a:ext cx="915612" cy="1795317"/>
          </a:xfrm>
          <a:custGeom>
            <a:avLst/>
            <a:gdLst/>
            <a:ahLst/>
            <a:cxnLst/>
            <a:rect r="r" b="b" t="t" l="l"/>
            <a:pathLst>
              <a:path h="1795317" w="915612">
                <a:moveTo>
                  <a:pt x="0" y="0"/>
                </a:moveTo>
                <a:lnTo>
                  <a:pt x="915612" y="0"/>
                </a:lnTo>
                <a:lnTo>
                  <a:pt x="915612" y="1795318"/>
                </a:lnTo>
                <a:lnTo>
                  <a:pt x="0" y="1795318"/>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9" id="9"/>
          <p:cNvSpPr/>
          <p:nvPr/>
        </p:nvSpPr>
        <p:spPr>
          <a:xfrm flipH="false" flipV="false" rot="0">
            <a:off x="16099882" y="7719714"/>
            <a:ext cx="1159418" cy="1717656"/>
          </a:xfrm>
          <a:custGeom>
            <a:avLst/>
            <a:gdLst/>
            <a:ahLst/>
            <a:cxnLst/>
            <a:rect r="r" b="b" t="t" l="l"/>
            <a:pathLst>
              <a:path h="1717656" w="1159418">
                <a:moveTo>
                  <a:pt x="0" y="0"/>
                </a:moveTo>
                <a:lnTo>
                  <a:pt x="1159418" y="0"/>
                </a:lnTo>
                <a:lnTo>
                  <a:pt x="1159418" y="1717656"/>
                </a:lnTo>
                <a:lnTo>
                  <a:pt x="0" y="1717656"/>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
        <p:nvSpPr>
          <p:cNvPr name="Freeform 10" id="10"/>
          <p:cNvSpPr/>
          <p:nvPr/>
        </p:nvSpPr>
        <p:spPr>
          <a:xfrm flipH="false" flipV="false" rot="5400000">
            <a:off x="13755052" y="4650767"/>
            <a:ext cx="1990082" cy="1313454"/>
          </a:xfrm>
          <a:custGeom>
            <a:avLst/>
            <a:gdLst/>
            <a:ahLst/>
            <a:cxnLst/>
            <a:rect r="r" b="b" t="t" l="l"/>
            <a:pathLst>
              <a:path h="1313454" w="1990082">
                <a:moveTo>
                  <a:pt x="0" y="0"/>
                </a:moveTo>
                <a:lnTo>
                  <a:pt x="1990083" y="0"/>
                </a:lnTo>
                <a:lnTo>
                  <a:pt x="1990083" y="1313454"/>
                </a:lnTo>
                <a:lnTo>
                  <a:pt x="0" y="1313454"/>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sp>
        <p:nvSpPr>
          <p:cNvPr name="Freeform 11" id="11"/>
          <p:cNvSpPr/>
          <p:nvPr/>
        </p:nvSpPr>
        <p:spPr>
          <a:xfrm flipH="false" flipV="false" rot="0">
            <a:off x="15131194" y="1615238"/>
            <a:ext cx="1937376" cy="1694323"/>
          </a:xfrm>
          <a:custGeom>
            <a:avLst/>
            <a:gdLst/>
            <a:ahLst/>
            <a:cxnLst/>
            <a:rect r="r" b="b" t="t" l="l"/>
            <a:pathLst>
              <a:path h="1694323" w="1937376">
                <a:moveTo>
                  <a:pt x="0" y="0"/>
                </a:moveTo>
                <a:lnTo>
                  <a:pt x="1937376" y="0"/>
                </a:lnTo>
                <a:lnTo>
                  <a:pt x="1937376" y="1694323"/>
                </a:lnTo>
                <a:lnTo>
                  <a:pt x="0" y="1694323"/>
                </a:lnTo>
                <a:lnTo>
                  <a:pt x="0" y="0"/>
                </a:lnTo>
                <a:close/>
              </a:path>
            </a:pathLst>
          </a:custGeom>
          <a:blipFill>
            <a:blip r:embed="rId19">
              <a:extLst>
                <a:ext uri="{96DAC541-7B7A-43D3-8B79-37D633B846F1}">
                  <asvg:svgBlip xmlns:asvg="http://schemas.microsoft.com/office/drawing/2016/SVG/main" r:embed="rId20"/>
                </a:ext>
              </a:extLst>
            </a:blip>
            <a:stretch>
              <a:fillRect l="0" t="0" r="0" b="0"/>
            </a:stretch>
          </a:blipFill>
        </p:spPr>
      </p:sp>
      <p:sp>
        <p:nvSpPr>
          <p:cNvPr name="TextBox 12" id="12"/>
          <p:cNvSpPr txBox="true"/>
          <p:nvPr/>
        </p:nvSpPr>
        <p:spPr>
          <a:xfrm rot="0">
            <a:off x="1028700" y="3088208"/>
            <a:ext cx="8762153" cy="5185548"/>
          </a:xfrm>
          <a:prstGeom prst="rect">
            <a:avLst/>
          </a:prstGeom>
        </p:spPr>
        <p:txBody>
          <a:bodyPr anchor="t" rtlCol="false" tIns="0" lIns="0" bIns="0" rIns="0">
            <a:spAutoFit/>
          </a:bodyPr>
          <a:lstStyle/>
          <a:p>
            <a:pPr algn="l" marL="452221" indent="-226110" lvl="1">
              <a:lnSpc>
                <a:spcPts val="2932"/>
              </a:lnSpc>
              <a:buFont typeface="Arial"/>
              <a:buChar char="•"/>
            </a:pPr>
            <a:r>
              <a:rPr lang="en-US" sz="2094">
                <a:solidFill>
                  <a:srgbClr val="FFFFFF"/>
                </a:solidFill>
                <a:latin typeface="Canva Sans"/>
                <a:ea typeface="Canva Sans"/>
                <a:cs typeface="Canva Sans"/>
                <a:sym typeface="Canva Sans"/>
              </a:rPr>
              <a:t>Artificial Intelligence is currently learning to bridge the gap between abstract thought and physical reality</a:t>
            </a:r>
          </a:p>
          <a:p>
            <a:pPr algn="l">
              <a:lnSpc>
                <a:spcPts val="2932"/>
              </a:lnSpc>
            </a:pPr>
          </a:p>
          <a:p>
            <a:pPr algn="l">
              <a:lnSpc>
                <a:spcPts val="2932"/>
              </a:lnSpc>
            </a:pPr>
          </a:p>
          <a:p>
            <a:pPr algn="l" marL="452221" indent="-226110" lvl="1">
              <a:lnSpc>
                <a:spcPts val="2932"/>
              </a:lnSpc>
              <a:buFont typeface="Arial"/>
              <a:buChar char="•"/>
            </a:pPr>
            <a:r>
              <a:rPr lang="en-US" b="true" sz="2094">
                <a:solidFill>
                  <a:srgbClr val="FFFFFF"/>
                </a:solidFill>
                <a:latin typeface="Canva Sans Bold"/>
                <a:ea typeface="Canva Sans Bold"/>
                <a:cs typeface="Canva Sans Bold"/>
                <a:sym typeface="Canva Sans Bold"/>
              </a:rPr>
              <a:t>Broad Impact: </a:t>
            </a:r>
            <a:r>
              <a:rPr lang="en-US" sz="2094">
                <a:solidFill>
                  <a:srgbClr val="FFFFFF"/>
                </a:solidFill>
                <a:latin typeface="Canva Sans"/>
                <a:ea typeface="Canva Sans"/>
                <a:cs typeface="Canva Sans"/>
                <a:sym typeface="Canva Sans"/>
              </a:rPr>
              <a:t>Advances in text-to-motion have significant implications for several key fields, including robotics, accessibility, and entertainment.</a:t>
            </a:r>
          </a:p>
          <a:p>
            <a:pPr algn="l">
              <a:lnSpc>
                <a:spcPts val="2932"/>
              </a:lnSpc>
            </a:pPr>
          </a:p>
          <a:p>
            <a:pPr algn="l">
              <a:lnSpc>
                <a:spcPts val="2932"/>
              </a:lnSpc>
            </a:pPr>
          </a:p>
          <a:p>
            <a:pPr algn="l" marL="452221" indent="-226110" lvl="1">
              <a:lnSpc>
                <a:spcPts val="2932"/>
              </a:lnSpc>
              <a:buFont typeface="Arial"/>
              <a:buChar char="•"/>
            </a:pPr>
            <a:r>
              <a:rPr lang="en-US" b="true" sz="2094">
                <a:solidFill>
                  <a:srgbClr val="FFFFFF"/>
                </a:solidFill>
                <a:latin typeface="Canva Sans Bold"/>
                <a:ea typeface="Canva Sans Bold"/>
                <a:cs typeface="Canva Sans Bold"/>
                <a:sym typeface="Canva Sans Bold"/>
              </a:rPr>
              <a:t>Research Gap: </a:t>
            </a:r>
            <a:r>
              <a:rPr lang="en-US" sz="2094">
                <a:solidFill>
                  <a:srgbClr val="FFFFFF"/>
                </a:solidFill>
                <a:latin typeface="Canva Sans"/>
                <a:ea typeface="Canva Sans"/>
                <a:cs typeface="Canva Sans"/>
                <a:sym typeface="Canva Sans"/>
              </a:rPr>
              <a:t>To address gaps in current research, it is necessary to examine how models handle the diversity of human speech.</a:t>
            </a:r>
          </a:p>
          <a:p>
            <a:pPr algn="l">
              <a:lnSpc>
                <a:spcPts val="2932"/>
              </a:lnSpc>
            </a:pPr>
          </a:p>
          <a:p>
            <a:pPr algn="l">
              <a:lnSpc>
                <a:spcPts val="2932"/>
              </a:lnSpc>
              <a:spcBef>
                <a:spcPct val="0"/>
              </a:spcBef>
            </a:pPr>
          </a:p>
        </p:txBody>
      </p:sp>
      <p:sp>
        <p:nvSpPr>
          <p:cNvPr name="TextBox 13" id="13"/>
          <p:cNvSpPr txBox="true"/>
          <p:nvPr/>
        </p:nvSpPr>
        <p:spPr>
          <a:xfrm rot="0">
            <a:off x="1028700" y="1435328"/>
            <a:ext cx="8115300" cy="1027071"/>
          </a:xfrm>
          <a:prstGeom prst="rect">
            <a:avLst/>
          </a:prstGeom>
        </p:spPr>
        <p:txBody>
          <a:bodyPr anchor="t" rtlCol="false" tIns="0" lIns="0" bIns="0" rIns="0">
            <a:spAutoFit/>
          </a:bodyPr>
          <a:lstStyle/>
          <a:p>
            <a:pPr algn="l">
              <a:lnSpc>
                <a:spcPts val="7646"/>
              </a:lnSpc>
            </a:pPr>
            <a:r>
              <a:rPr lang="en-US" sz="8048">
                <a:solidFill>
                  <a:srgbClr val="FFFFFF"/>
                </a:solidFill>
                <a:latin typeface="Canva Sans"/>
                <a:ea typeface="Canva Sans"/>
                <a:cs typeface="Canva Sans"/>
                <a:sym typeface="Canva Sans"/>
              </a:rPr>
              <a:t>Introduction</a:t>
            </a:r>
          </a:p>
        </p:txBody>
      </p:sp>
      <p:sp>
        <p:nvSpPr>
          <p:cNvPr name="TextBox 14" id="14"/>
          <p:cNvSpPr txBox="true"/>
          <p:nvPr/>
        </p:nvSpPr>
        <p:spPr>
          <a:xfrm rot="0">
            <a:off x="17547339" y="9380220"/>
            <a:ext cx="181273" cy="448310"/>
          </a:xfrm>
          <a:prstGeom prst="rect">
            <a:avLst/>
          </a:prstGeom>
        </p:spPr>
        <p:txBody>
          <a:bodyPr anchor="t" rtlCol="false" tIns="0" lIns="0" bIns="0" rIns="0">
            <a:spAutoFit/>
          </a:bodyPr>
          <a:lstStyle/>
          <a:p>
            <a:pPr algn="ctr">
              <a:lnSpc>
                <a:spcPts val="3640"/>
              </a:lnSpc>
            </a:pPr>
            <a:r>
              <a:rPr lang="en-US" sz="2600">
                <a:solidFill>
                  <a:srgbClr val="FFFFFF"/>
                </a:solidFill>
                <a:latin typeface="Canva Sans"/>
                <a:ea typeface="Canva Sans"/>
                <a:cs typeface="Canva Sans"/>
                <a:sym typeface="Canva Sans"/>
              </a:rPr>
              <a:t>2</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071846"/>
        </a:solidFill>
      </p:bgPr>
    </p:bg>
    <p:spTree>
      <p:nvGrpSpPr>
        <p:cNvPr id="1" name=""/>
        <p:cNvGrpSpPr/>
        <p:nvPr/>
      </p:nvGrpSpPr>
      <p:grpSpPr>
        <a:xfrm>
          <a:off x="0" y="0"/>
          <a:ext cx="0" cy="0"/>
          <a:chOff x="0" y="0"/>
          <a:chExt cx="0" cy="0"/>
        </a:xfrm>
      </p:grpSpPr>
      <p:sp>
        <p:nvSpPr>
          <p:cNvPr name="Freeform 2" id="2"/>
          <p:cNvSpPr/>
          <p:nvPr/>
        </p:nvSpPr>
        <p:spPr>
          <a:xfrm flipH="false" flipV="false" rot="0">
            <a:off x="-1483739" y="412018"/>
            <a:ext cx="11563441" cy="11563441"/>
          </a:xfrm>
          <a:custGeom>
            <a:avLst/>
            <a:gdLst/>
            <a:ahLst/>
            <a:cxnLst/>
            <a:rect r="r" b="b" t="t" l="l"/>
            <a:pathLst>
              <a:path h="11563441" w="11563441">
                <a:moveTo>
                  <a:pt x="0" y="0"/>
                </a:moveTo>
                <a:lnTo>
                  <a:pt x="11563442" y="0"/>
                </a:lnTo>
                <a:lnTo>
                  <a:pt x="11563442" y="11563441"/>
                </a:lnTo>
                <a:lnTo>
                  <a:pt x="0" y="11563441"/>
                </a:lnTo>
                <a:lnTo>
                  <a:pt x="0" y="0"/>
                </a:lnTo>
                <a:close/>
              </a:path>
            </a:pathLst>
          </a:custGeom>
          <a:blipFill>
            <a:blip r:embed="rId3">
              <a:alphaModFix amt="50000"/>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13709951" y="-3529330"/>
            <a:ext cx="11563441" cy="11563441"/>
          </a:xfrm>
          <a:custGeom>
            <a:avLst/>
            <a:gdLst/>
            <a:ahLst/>
            <a:cxnLst/>
            <a:rect r="r" b="b" t="t" l="l"/>
            <a:pathLst>
              <a:path h="11563441" w="11563441">
                <a:moveTo>
                  <a:pt x="0" y="0"/>
                </a:moveTo>
                <a:lnTo>
                  <a:pt x="11563441" y="0"/>
                </a:lnTo>
                <a:lnTo>
                  <a:pt x="11563441" y="11563442"/>
                </a:lnTo>
                <a:lnTo>
                  <a:pt x="0" y="11563442"/>
                </a:lnTo>
                <a:lnTo>
                  <a:pt x="0" y="0"/>
                </a:lnTo>
                <a:close/>
              </a:path>
            </a:pathLst>
          </a:custGeom>
          <a:blipFill>
            <a:blip r:embed="rId3">
              <a:alphaModFix amt="50000"/>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3637739" y="172298"/>
            <a:ext cx="9300522" cy="9265072"/>
          </a:xfrm>
          <a:custGeom>
            <a:avLst/>
            <a:gdLst/>
            <a:ahLst/>
            <a:cxnLst/>
            <a:rect r="r" b="b" t="t" l="l"/>
            <a:pathLst>
              <a:path h="9265072" w="9300522">
                <a:moveTo>
                  <a:pt x="0" y="0"/>
                </a:moveTo>
                <a:lnTo>
                  <a:pt x="9300522" y="0"/>
                </a:lnTo>
                <a:lnTo>
                  <a:pt x="9300522" y="9265072"/>
                </a:lnTo>
                <a:lnTo>
                  <a:pt x="0" y="9265072"/>
                </a:lnTo>
                <a:lnTo>
                  <a:pt x="0" y="0"/>
                </a:lnTo>
                <a:close/>
              </a:path>
            </a:pathLst>
          </a:custGeom>
          <a:blipFill>
            <a:blip r:embed="rId5">
              <a:alphaModFix amt="46000"/>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false" rot="0">
            <a:off x="1391982" y="3097192"/>
            <a:ext cx="3198315" cy="1038050"/>
          </a:xfrm>
          <a:custGeom>
            <a:avLst/>
            <a:gdLst/>
            <a:ahLst/>
            <a:cxnLst/>
            <a:rect r="r" b="b" t="t" l="l"/>
            <a:pathLst>
              <a:path h="1038050" w="3198315">
                <a:moveTo>
                  <a:pt x="0" y="0"/>
                </a:moveTo>
                <a:lnTo>
                  <a:pt x="3198315" y="0"/>
                </a:lnTo>
                <a:lnTo>
                  <a:pt x="3198315" y="1038050"/>
                </a:lnTo>
                <a:lnTo>
                  <a:pt x="0" y="1038050"/>
                </a:lnTo>
                <a:lnTo>
                  <a:pt x="0" y="0"/>
                </a:lnTo>
                <a:close/>
              </a:path>
            </a:pathLst>
          </a:custGeom>
          <a:blipFill>
            <a:blip r:embed="rId7">
              <a:extLst>
                <a:ext uri="{96DAC541-7B7A-43D3-8B79-37D633B846F1}">
                  <asvg:svgBlip xmlns:asvg="http://schemas.microsoft.com/office/drawing/2016/SVG/main" r:embed="rId8"/>
                </a:ext>
              </a:extLst>
            </a:blip>
            <a:stretch>
              <a:fillRect l="0" t="0" r="-2218" b="-36857"/>
            </a:stretch>
          </a:blipFill>
        </p:spPr>
      </p:sp>
      <p:sp>
        <p:nvSpPr>
          <p:cNvPr name="Freeform 6" id="6"/>
          <p:cNvSpPr/>
          <p:nvPr/>
        </p:nvSpPr>
        <p:spPr>
          <a:xfrm flipH="false" flipV="false" rot="0">
            <a:off x="1391982" y="7177482"/>
            <a:ext cx="3198315" cy="1038050"/>
          </a:xfrm>
          <a:custGeom>
            <a:avLst/>
            <a:gdLst/>
            <a:ahLst/>
            <a:cxnLst/>
            <a:rect r="r" b="b" t="t" l="l"/>
            <a:pathLst>
              <a:path h="1038050" w="3198315">
                <a:moveTo>
                  <a:pt x="0" y="0"/>
                </a:moveTo>
                <a:lnTo>
                  <a:pt x="3198315" y="0"/>
                </a:lnTo>
                <a:lnTo>
                  <a:pt x="3198315" y="1038050"/>
                </a:lnTo>
                <a:lnTo>
                  <a:pt x="0" y="1038050"/>
                </a:lnTo>
                <a:lnTo>
                  <a:pt x="0" y="0"/>
                </a:lnTo>
                <a:close/>
              </a:path>
            </a:pathLst>
          </a:custGeom>
          <a:blipFill>
            <a:blip r:embed="rId7">
              <a:extLst>
                <a:ext uri="{96DAC541-7B7A-43D3-8B79-37D633B846F1}">
                  <asvg:svgBlip xmlns:asvg="http://schemas.microsoft.com/office/drawing/2016/SVG/main" r:embed="rId8"/>
                </a:ext>
              </a:extLst>
            </a:blip>
            <a:stretch>
              <a:fillRect l="0" t="0" r="-2218" b="-36857"/>
            </a:stretch>
          </a:blipFill>
        </p:spPr>
      </p:sp>
      <p:sp>
        <p:nvSpPr>
          <p:cNvPr name="TextBox 7" id="7"/>
          <p:cNvSpPr txBox="true"/>
          <p:nvPr/>
        </p:nvSpPr>
        <p:spPr>
          <a:xfrm rot="0">
            <a:off x="1391982" y="3381286"/>
            <a:ext cx="11691577" cy="6615173"/>
          </a:xfrm>
          <a:prstGeom prst="rect">
            <a:avLst/>
          </a:prstGeom>
        </p:spPr>
        <p:txBody>
          <a:bodyPr anchor="t" rtlCol="false" tIns="0" lIns="0" bIns="0" rIns="0">
            <a:spAutoFit/>
          </a:bodyPr>
          <a:lstStyle/>
          <a:p>
            <a:pPr algn="just">
              <a:lnSpc>
                <a:spcPts val="3470"/>
              </a:lnSpc>
            </a:pPr>
            <a:r>
              <a:rPr lang="en-US" sz="2479">
                <a:solidFill>
                  <a:srgbClr val="FFFFFF"/>
                </a:solidFill>
                <a:latin typeface="Canva Sans"/>
                <a:ea typeface="Canva Sans"/>
                <a:cs typeface="Canva Sans"/>
                <a:sym typeface="Canva Sans"/>
              </a:rPr>
              <a:t>T</a:t>
            </a:r>
            <a:r>
              <a:rPr lang="en-US" sz="2479" b="true">
                <a:solidFill>
                  <a:srgbClr val="FFFFFF"/>
                </a:solidFill>
                <a:latin typeface="Canva Sans Bold"/>
                <a:ea typeface="Canva Sans Bold"/>
                <a:cs typeface="Canva Sans Bold"/>
                <a:sym typeface="Canva Sans Bold"/>
              </a:rPr>
              <a:t>he Core Problem: </a:t>
            </a:r>
          </a:p>
          <a:p>
            <a:pPr algn="just">
              <a:lnSpc>
                <a:spcPts val="2791"/>
              </a:lnSpc>
            </a:pPr>
          </a:p>
          <a:p>
            <a:pPr algn="just">
              <a:lnSpc>
                <a:spcPts val="2511"/>
              </a:lnSpc>
            </a:pPr>
          </a:p>
          <a:p>
            <a:pPr algn="just">
              <a:lnSpc>
                <a:spcPts val="2511"/>
              </a:lnSpc>
            </a:pPr>
            <a:r>
              <a:rPr lang="en-US" sz="1793">
                <a:solidFill>
                  <a:srgbClr val="FFFFFF"/>
                </a:solidFill>
                <a:latin typeface="Canva Sans"/>
                <a:ea typeface="Canva Sans"/>
                <a:cs typeface="Canva Sans"/>
                <a:sym typeface="Canva Sans"/>
              </a:rPr>
              <a:t>While natural language is used to control human motion generation, descriptive styles vary drastically between professional and non-professional users.</a:t>
            </a:r>
          </a:p>
          <a:p>
            <a:pPr algn="just">
              <a:lnSpc>
                <a:spcPts val="2511"/>
              </a:lnSpc>
            </a:pPr>
          </a:p>
          <a:p>
            <a:pPr algn="just">
              <a:lnSpc>
                <a:spcPts val="2511"/>
              </a:lnSpc>
            </a:pPr>
            <a:r>
              <a:rPr lang="en-US" sz="1793">
                <a:solidFill>
                  <a:srgbClr val="FFFFFF"/>
                </a:solidFill>
                <a:latin typeface="Canva Sans"/>
                <a:ea typeface="Canva Sans"/>
                <a:cs typeface="Canva Sans"/>
                <a:sym typeface="Canva Sans"/>
              </a:rPr>
              <a:t>Linguistic conventions differ significantly across languages (e.g., Chinese vs. English).</a:t>
            </a:r>
          </a:p>
          <a:p>
            <a:pPr algn="just">
              <a:lnSpc>
                <a:spcPts val="2511"/>
              </a:lnSpc>
            </a:pPr>
          </a:p>
          <a:p>
            <a:pPr algn="just">
              <a:lnSpc>
                <a:spcPts val="2511"/>
              </a:lnSpc>
            </a:pPr>
            <a:r>
              <a:rPr lang="en-US" sz="1793">
                <a:solidFill>
                  <a:srgbClr val="FFFFFF"/>
                </a:solidFill>
                <a:latin typeface="Canva Sans"/>
                <a:ea typeface="Canva Sans"/>
                <a:cs typeface="Canva Sans"/>
                <a:sym typeface="Canva Sans"/>
              </a:rPr>
              <a:t>Current text-to-motion models are rarely evaluated for their robustness to these linguistic variations.</a:t>
            </a:r>
          </a:p>
          <a:p>
            <a:pPr algn="just">
              <a:lnSpc>
                <a:spcPts val="2791"/>
              </a:lnSpc>
            </a:pPr>
          </a:p>
          <a:p>
            <a:pPr algn="just">
              <a:lnSpc>
                <a:spcPts val="2791"/>
              </a:lnSpc>
            </a:pPr>
          </a:p>
          <a:p>
            <a:pPr algn="just">
              <a:lnSpc>
                <a:spcPts val="2791"/>
              </a:lnSpc>
            </a:pPr>
          </a:p>
          <a:p>
            <a:pPr algn="just">
              <a:lnSpc>
                <a:spcPts val="3470"/>
              </a:lnSpc>
            </a:pPr>
            <a:r>
              <a:rPr lang="en-US" sz="2479" b="true">
                <a:solidFill>
                  <a:srgbClr val="FFFFFF"/>
                </a:solidFill>
                <a:latin typeface="Canva Sans Bold"/>
                <a:ea typeface="Canva Sans Bold"/>
                <a:cs typeface="Canva Sans Bold"/>
                <a:sym typeface="Canva Sans Bold"/>
              </a:rPr>
              <a:t>Project Objectives:</a:t>
            </a:r>
          </a:p>
          <a:p>
            <a:pPr algn="just">
              <a:lnSpc>
                <a:spcPts val="3470"/>
              </a:lnSpc>
            </a:pPr>
          </a:p>
          <a:p>
            <a:pPr algn="just">
              <a:lnSpc>
                <a:spcPts val="2791"/>
              </a:lnSpc>
            </a:pPr>
            <a:r>
              <a:rPr lang="en-US" sz="1993">
                <a:solidFill>
                  <a:srgbClr val="FFFFFF"/>
                </a:solidFill>
                <a:latin typeface="Canva Sans"/>
                <a:ea typeface="Canva Sans"/>
                <a:cs typeface="Canva Sans"/>
                <a:sym typeface="Canva Sans"/>
              </a:rPr>
              <a:t>Study how specific linguistic contexts affect motion generation quality.</a:t>
            </a:r>
          </a:p>
          <a:p>
            <a:pPr algn="just">
              <a:lnSpc>
                <a:spcPts val="2791"/>
              </a:lnSpc>
            </a:pPr>
          </a:p>
          <a:p>
            <a:pPr algn="just">
              <a:lnSpc>
                <a:spcPts val="2791"/>
              </a:lnSpc>
            </a:pPr>
            <a:r>
              <a:rPr lang="en-US" sz="1993">
                <a:solidFill>
                  <a:srgbClr val="FFFFFF"/>
                </a:solidFill>
                <a:latin typeface="Canva Sans"/>
                <a:ea typeface="Canva Sans"/>
                <a:cs typeface="Canva Sans"/>
                <a:sym typeface="Canva Sans"/>
              </a:rPr>
              <a:t>Analyze the impact of varying instruction details and semantic combinations on model output.</a:t>
            </a:r>
          </a:p>
          <a:p>
            <a:pPr algn="just">
              <a:lnSpc>
                <a:spcPts val="2791"/>
              </a:lnSpc>
            </a:pPr>
          </a:p>
          <a:p>
            <a:pPr algn="just">
              <a:lnSpc>
                <a:spcPts val="2791"/>
              </a:lnSpc>
            </a:pPr>
          </a:p>
        </p:txBody>
      </p:sp>
      <p:sp>
        <p:nvSpPr>
          <p:cNvPr name="TextBox 8" id="8"/>
          <p:cNvSpPr txBox="true"/>
          <p:nvPr/>
        </p:nvSpPr>
        <p:spPr>
          <a:xfrm rot="0">
            <a:off x="1391982" y="836480"/>
            <a:ext cx="7275653" cy="1988229"/>
          </a:xfrm>
          <a:prstGeom prst="rect">
            <a:avLst/>
          </a:prstGeom>
        </p:spPr>
        <p:txBody>
          <a:bodyPr anchor="t" rtlCol="false" tIns="0" lIns="0" bIns="0" rIns="0">
            <a:spAutoFit/>
          </a:bodyPr>
          <a:lstStyle/>
          <a:p>
            <a:pPr algn="l">
              <a:lnSpc>
                <a:spcPts val="7620"/>
              </a:lnSpc>
            </a:pPr>
            <a:r>
              <a:rPr lang="en-US" sz="8021">
                <a:solidFill>
                  <a:srgbClr val="FFFFFF"/>
                </a:solidFill>
                <a:latin typeface="Canva Sans"/>
                <a:ea typeface="Canva Sans"/>
                <a:cs typeface="Canva Sans"/>
                <a:sym typeface="Canva Sans"/>
              </a:rPr>
              <a:t>Problem Statement </a:t>
            </a:r>
          </a:p>
        </p:txBody>
      </p:sp>
      <p:sp>
        <p:nvSpPr>
          <p:cNvPr name="TextBox 9" id="9"/>
          <p:cNvSpPr txBox="true"/>
          <p:nvPr/>
        </p:nvSpPr>
        <p:spPr>
          <a:xfrm rot="0">
            <a:off x="17542130" y="9380220"/>
            <a:ext cx="191691" cy="448310"/>
          </a:xfrm>
          <a:prstGeom prst="rect">
            <a:avLst/>
          </a:prstGeom>
        </p:spPr>
        <p:txBody>
          <a:bodyPr anchor="t" rtlCol="false" tIns="0" lIns="0" bIns="0" rIns="0">
            <a:spAutoFit/>
          </a:bodyPr>
          <a:lstStyle/>
          <a:p>
            <a:pPr algn="ctr">
              <a:lnSpc>
                <a:spcPts val="3640"/>
              </a:lnSpc>
            </a:pPr>
            <a:r>
              <a:rPr lang="en-US" sz="2600">
                <a:solidFill>
                  <a:srgbClr val="FFFFFF"/>
                </a:solidFill>
                <a:latin typeface="Canva Sans"/>
                <a:ea typeface="Canva Sans"/>
                <a:cs typeface="Canva Sans"/>
                <a:sym typeface="Canva Sans"/>
              </a:rPr>
              <a:t>3</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071846"/>
        </a:solidFill>
      </p:bgPr>
    </p:bg>
    <p:spTree>
      <p:nvGrpSpPr>
        <p:cNvPr id="1" name=""/>
        <p:cNvGrpSpPr/>
        <p:nvPr/>
      </p:nvGrpSpPr>
      <p:grpSpPr>
        <a:xfrm>
          <a:off x="0" y="0"/>
          <a:ext cx="0" cy="0"/>
          <a:chOff x="0" y="0"/>
          <a:chExt cx="0" cy="0"/>
        </a:xfrm>
      </p:grpSpPr>
      <p:sp>
        <p:nvSpPr>
          <p:cNvPr name="Freeform 2" id="2"/>
          <p:cNvSpPr/>
          <p:nvPr/>
        </p:nvSpPr>
        <p:spPr>
          <a:xfrm flipH="false" flipV="false" rot="0">
            <a:off x="11311759" y="4320781"/>
            <a:ext cx="11563441" cy="11563441"/>
          </a:xfrm>
          <a:custGeom>
            <a:avLst/>
            <a:gdLst/>
            <a:ahLst/>
            <a:cxnLst/>
            <a:rect r="r" b="b" t="t" l="l"/>
            <a:pathLst>
              <a:path h="11563441" w="11563441">
                <a:moveTo>
                  <a:pt x="0" y="0"/>
                </a:moveTo>
                <a:lnTo>
                  <a:pt x="11563442" y="0"/>
                </a:lnTo>
                <a:lnTo>
                  <a:pt x="11563442" y="11563441"/>
                </a:lnTo>
                <a:lnTo>
                  <a:pt x="0" y="11563441"/>
                </a:lnTo>
                <a:lnTo>
                  <a:pt x="0" y="0"/>
                </a:lnTo>
                <a:close/>
              </a:path>
            </a:pathLst>
          </a:custGeom>
          <a:blipFill>
            <a:blip r:embed="rId3">
              <a:alphaModFix amt="50000"/>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14066271" y="-1230155"/>
            <a:ext cx="5128604" cy="5147322"/>
          </a:xfrm>
          <a:custGeom>
            <a:avLst/>
            <a:gdLst/>
            <a:ahLst/>
            <a:cxnLst/>
            <a:rect r="r" b="b" t="t" l="l"/>
            <a:pathLst>
              <a:path h="5147322" w="5128604">
                <a:moveTo>
                  <a:pt x="0" y="0"/>
                </a:moveTo>
                <a:lnTo>
                  <a:pt x="5128604" y="0"/>
                </a:lnTo>
                <a:lnTo>
                  <a:pt x="5128604" y="5147322"/>
                </a:lnTo>
                <a:lnTo>
                  <a:pt x="0" y="514732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4" id="4"/>
          <p:cNvSpPr txBox="true"/>
          <p:nvPr/>
        </p:nvSpPr>
        <p:spPr>
          <a:xfrm rot="0">
            <a:off x="1586232" y="999365"/>
            <a:ext cx="10767889" cy="1320801"/>
          </a:xfrm>
          <a:prstGeom prst="rect">
            <a:avLst/>
          </a:prstGeom>
        </p:spPr>
        <p:txBody>
          <a:bodyPr anchor="t" rtlCol="false" tIns="0" lIns="0" bIns="0" rIns="0">
            <a:spAutoFit/>
          </a:bodyPr>
          <a:lstStyle/>
          <a:p>
            <a:pPr algn="l">
              <a:lnSpc>
                <a:spcPts val="9880"/>
              </a:lnSpc>
            </a:pPr>
            <a:r>
              <a:rPr lang="en-US" sz="10400">
                <a:solidFill>
                  <a:srgbClr val="FFFFFF"/>
                </a:solidFill>
                <a:latin typeface="Canva Sans"/>
                <a:ea typeface="Canva Sans"/>
                <a:cs typeface="Canva Sans"/>
                <a:sym typeface="Canva Sans"/>
              </a:rPr>
              <a:t>Objective</a:t>
            </a:r>
          </a:p>
        </p:txBody>
      </p:sp>
      <p:sp>
        <p:nvSpPr>
          <p:cNvPr name="TextBox 5" id="5"/>
          <p:cNvSpPr txBox="true"/>
          <p:nvPr/>
        </p:nvSpPr>
        <p:spPr>
          <a:xfrm rot="0">
            <a:off x="1348838" y="2547599"/>
            <a:ext cx="7370274" cy="7271175"/>
          </a:xfrm>
          <a:prstGeom prst="rect">
            <a:avLst/>
          </a:prstGeom>
        </p:spPr>
        <p:txBody>
          <a:bodyPr anchor="t" rtlCol="false" tIns="0" lIns="0" bIns="0" rIns="0">
            <a:spAutoFit/>
          </a:bodyPr>
          <a:lstStyle/>
          <a:p>
            <a:pPr algn="l">
              <a:lnSpc>
                <a:spcPts val="3312"/>
              </a:lnSpc>
            </a:pPr>
            <a:r>
              <a:rPr lang="en-US" sz="2366" b="true">
                <a:solidFill>
                  <a:srgbClr val="FFFFFF"/>
                </a:solidFill>
                <a:latin typeface="Canva Sans Bold"/>
                <a:ea typeface="Canva Sans Bold"/>
                <a:cs typeface="Canva Sans Bold"/>
                <a:sym typeface="Canva Sans Bold"/>
              </a:rPr>
              <a:t>Goal:</a:t>
            </a:r>
          </a:p>
          <a:p>
            <a:pPr algn="l">
              <a:lnSpc>
                <a:spcPts val="3057"/>
              </a:lnSpc>
            </a:pPr>
            <a:r>
              <a:rPr lang="en-US" sz="2184">
                <a:solidFill>
                  <a:srgbClr val="FFFFFF"/>
                </a:solidFill>
                <a:latin typeface="Canva Sans"/>
                <a:ea typeface="Canva Sans"/>
                <a:cs typeface="Canva Sans"/>
                <a:sym typeface="Canva Sans"/>
              </a:rPr>
              <a:t>Study how linguistic context affects text-to-motion generation.</a:t>
            </a:r>
          </a:p>
          <a:p>
            <a:pPr algn="l">
              <a:lnSpc>
                <a:spcPts val="3057"/>
              </a:lnSpc>
            </a:pPr>
          </a:p>
          <a:p>
            <a:pPr algn="l">
              <a:lnSpc>
                <a:spcPts val="3057"/>
              </a:lnSpc>
            </a:pPr>
            <a:r>
              <a:rPr lang="en-US" sz="2184">
                <a:solidFill>
                  <a:srgbClr val="FFFFFF"/>
                </a:solidFill>
                <a:latin typeface="Canva Sans"/>
                <a:ea typeface="Canva Sans"/>
                <a:cs typeface="Canva Sans"/>
                <a:sym typeface="Canva Sans"/>
              </a:rPr>
              <a:t>Analyze the impact of instruction detail and semantic combinations.</a:t>
            </a:r>
          </a:p>
          <a:p>
            <a:pPr algn="l">
              <a:lnSpc>
                <a:spcPts val="3057"/>
              </a:lnSpc>
            </a:pPr>
          </a:p>
          <a:p>
            <a:pPr algn="l">
              <a:lnSpc>
                <a:spcPts val="3057"/>
              </a:lnSpc>
            </a:pPr>
          </a:p>
          <a:p>
            <a:pPr algn="l">
              <a:lnSpc>
                <a:spcPts val="3057"/>
              </a:lnSpc>
            </a:pPr>
            <a:r>
              <a:rPr lang="en-US" sz="2184" b="true">
                <a:solidFill>
                  <a:srgbClr val="FFFFFF"/>
                </a:solidFill>
                <a:latin typeface="Canva Sans Bold"/>
                <a:ea typeface="Canva Sans Bold"/>
                <a:cs typeface="Canva Sans Bold"/>
                <a:sym typeface="Canva Sans Bold"/>
              </a:rPr>
              <a:t>Approach: </a:t>
            </a:r>
          </a:p>
          <a:p>
            <a:pPr algn="l">
              <a:lnSpc>
                <a:spcPts val="3057"/>
              </a:lnSpc>
            </a:pPr>
            <a:r>
              <a:rPr lang="en-US" sz="2184">
                <a:solidFill>
                  <a:srgbClr val="FFFFFF"/>
                </a:solidFill>
                <a:latin typeface="Canva Sans"/>
                <a:ea typeface="Canva Sans"/>
                <a:cs typeface="Canva Sans"/>
                <a:sym typeface="Canva Sans"/>
              </a:rPr>
              <a:t>Compare several text representation models, including BILSTM, mBERT, and mT5-based text encoders.</a:t>
            </a:r>
          </a:p>
          <a:p>
            <a:pPr algn="l">
              <a:lnSpc>
                <a:spcPts val="3057"/>
              </a:lnSpc>
            </a:pPr>
          </a:p>
          <a:p>
            <a:pPr algn="l">
              <a:lnSpc>
                <a:spcPts val="3057"/>
              </a:lnSpc>
            </a:pPr>
          </a:p>
          <a:p>
            <a:pPr algn="l">
              <a:lnSpc>
                <a:spcPts val="3057"/>
              </a:lnSpc>
            </a:pPr>
            <a:r>
              <a:rPr lang="en-US" sz="2184" b="true">
                <a:solidFill>
                  <a:srgbClr val="FFFFFF"/>
                </a:solidFill>
                <a:latin typeface="Canva Sans Bold"/>
                <a:ea typeface="Canva Sans Bold"/>
                <a:cs typeface="Canva Sans Bold"/>
                <a:sym typeface="Canva Sans Bold"/>
              </a:rPr>
              <a:t>Evaluation: </a:t>
            </a:r>
          </a:p>
          <a:p>
            <a:pPr algn="l">
              <a:lnSpc>
                <a:spcPts val="3057"/>
              </a:lnSpc>
            </a:pPr>
            <a:r>
              <a:rPr lang="en-US" sz="2184">
                <a:solidFill>
                  <a:srgbClr val="FFFFFF"/>
                </a:solidFill>
                <a:latin typeface="Canva Sans"/>
                <a:ea typeface="Canva Sans"/>
                <a:cs typeface="Canva Sans"/>
                <a:sym typeface="Canva Sans"/>
              </a:rPr>
              <a:t>Quantitative retrieval experiments, motion executability assessment, and cross-lingual human evaluation.</a:t>
            </a:r>
          </a:p>
          <a:p>
            <a:pPr algn="l">
              <a:lnSpc>
                <a:spcPts val="3057"/>
              </a:lnSpc>
            </a:pPr>
          </a:p>
          <a:p>
            <a:pPr algn="l">
              <a:lnSpc>
                <a:spcPts val="3057"/>
              </a:lnSpc>
            </a:pPr>
          </a:p>
        </p:txBody>
      </p:sp>
      <p:sp>
        <p:nvSpPr>
          <p:cNvPr name="Freeform 6" id="6"/>
          <p:cNvSpPr/>
          <p:nvPr/>
        </p:nvSpPr>
        <p:spPr>
          <a:xfrm flipH="false" flipV="false" rot="0">
            <a:off x="13617920" y="7076503"/>
            <a:ext cx="6951121" cy="6976490"/>
          </a:xfrm>
          <a:custGeom>
            <a:avLst/>
            <a:gdLst/>
            <a:ahLst/>
            <a:cxnLst/>
            <a:rect r="r" b="b" t="t" l="l"/>
            <a:pathLst>
              <a:path h="6976490" w="6951121">
                <a:moveTo>
                  <a:pt x="0" y="0"/>
                </a:moveTo>
                <a:lnTo>
                  <a:pt x="6951120" y="0"/>
                </a:lnTo>
                <a:lnTo>
                  <a:pt x="6951120" y="6976490"/>
                </a:lnTo>
                <a:lnTo>
                  <a:pt x="0" y="697649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7" id="7"/>
          <p:cNvSpPr/>
          <p:nvPr/>
        </p:nvSpPr>
        <p:spPr>
          <a:xfrm flipH="false" flipV="false" rot="0">
            <a:off x="11665913" y="-5270377"/>
            <a:ext cx="11563441" cy="11563441"/>
          </a:xfrm>
          <a:custGeom>
            <a:avLst/>
            <a:gdLst/>
            <a:ahLst/>
            <a:cxnLst/>
            <a:rect r="r" b="b" t="t" l="l"/>
            <a:pathLst>
              <a:path h="11563441" w="11563441">
                <a:moveTo>
                  <a:pt x="0" y="0"/>
                </a:moveTo>
                <a:lnTo>
                  <a:pt x="11563441" y="0"/>
                </a:lnTo>
                <a:lnTo>
                  <a:pt x="11563441" y="11563441"/>
                </a:lnTo>
                <a:lnTo>
                  <a:pt x="0" y="11563441"/>
                </a:lnTo>
                <a:lnTo>
                  <a:pt x="0" y="0"/>
                </a:lnTo>
                <a:close/>
              </a:path>
            </a:pathLst>
          </a:custGeom>
          <a:blipFill>
            <a:blip r:embed="rId3">
              <a:alphaModFix amt="50000"/>
              <a:extLst>
                <a:ext uri="{96DAC541-7B7A-43D3-8B79-37D633B846F1}">
                  <asvg:svgBlip xmlns:asvg="http://schemas.microsoft.com/office/drawing/2016/SVG/main" r:embed="rId4"/>
                </a:ext>
              </a:extLst>
            </a:blip>
            <a:stretch>
              <a:fillRect l="0" t="0" r="0" b="0"/>
            </a:stretch>
          </a:blipFill>
        </p:spPr>
      </p:sp>
      <p:sp>
        <p:nvSpPr>
          <p:cNvPr name="Freeform 8" id="8"/>
          <p:cNvSpPr/>
          <p:nvPr/>
        </p:nvSpPr>
        <p:spPr>
          <a:xfrm flipH="false" flipV="false" rot="0">
            <a:off x="9243938" y="2595224"/>
            <a:ext cx="8394037" cy="6012229"/>
          </a:xfrm>
          <a:custGeom>
            <a:avLst/>
            <a:gdLst/>
            <a:ahLst/>
            <a:cxnLst/>
            <a:rect r="r" b="b" t="t" l="l"/>
            <a:pathLst>
              <a:path h="6012229" w="8394037">
                <a:moveTo>
                  <a:pt x="0" y="0"/>
                </a:moveTo>
                <a:lnTo>
                  <a:pt x="8394037" y="0"/>
                </a:lnTo>
                <a:lnTo>
                  <a:pt x="8394037" y="6012229"/>
                </a:lnTo>
                <a:lnTo>
                  <a:pt x="0" y="6012229"/>
                </a:lnTo>
                <a:lnTo>
                  <a:pt x="0" y="0"/>
                </a:lnTo>
                <a:close/>
              </a:path>
            </a:pathLst>
          </a:custGeom>
          <a:blipFill>
            <a:blip r:embed="rId7"/>
            <a:stretch>
              <a:fillRect l="0" t="0" r="0" b="0"/>
            </a:stretch>
          </a:blipFill>
        </p:spPr>
      </p:sp>
      <p:sp>
        <p:nvSpPr>
          <p:cNvPr name="TextBox 9" id="9"/>
          <p:cNvSpPr txBox="true"/>
          <p:nvPr/>
        </p:nvSpPr>
        <p:spPr>
          <a:xfrm rot="0">
            <a:off x="17538037" y="9380220"/>
            <a:ext cx="199876" cy="448310"/>
          </a:xfrm>
          <a:prstGeom prst="rect">
            <a:avLst/>
          </a:prstGeom>
        </p:spPr>
        <p:txBody>
          <a:bodyPr anchor="t" rtlCol="false" tIns="0" lIns="0" bIns="0" rIns="0">
            <a:spAutoFit/>
          </a:bodyPr>
          <a:lstStyle/>
          <a:p>
            <a:pPr algn="ctr">
              <a:lnSpc>
                <a:spcPts val="3640"/>
              </a:lnSpc>
            </a:pPr>
            <a:r>
              <a:rPr lang="en-US" sz="2600">
                <a:solidFill>
                  <a:srgbClr val="FFFFFF"/>
                </a:solidFill>
                <a:latin typeface="Canva Sans"/>
                <a:ea typeface="Canva Sans"/>
                <a:cs typeface="Canva Sans"/>
                <a:sym typeface="Canva Sans"/>
              </a:rPr>
              <a:t>4</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0C2157"/>
        </a:solidFill>
      </p:bgPr>
    </p:bg>
    <p:spTree>
      <p:nvGrpSpPr>
        <p:cNvPr id="1" name=""/>
        <p:cNvGrpSpPr/>
        <p:nvPr/>
      </p:nvGrpSpPr>
      <p:grpSpPr>
        <a:xfrm>
          <a:off x="0" y="0"/>
          <a:ext cx="0" cy="0"/>
          <a:chOff x="0" y="0"/>
          <a:chExt cx="0" cy="0"/>
        </a:xfrm>
      </p:grpSpPr>
      <p:sp>
        <p:nvSpPr>
          <p:cNvPr name="Freeform 2" id="2"/>
          <p:cNvSpPr/>
          <p:nvPr/>
        </p:nvSpPr>
        <p:spPr>
          <a:xfrm flipH="false" flipV="false" rot="-10800000">
            <a:off x="-612542" y="4982835"/>
            <a:ext cx="5408942" cy="8113414"/>
          </a:xfrm>
          <a:custGeom>
            <a:avLst/>
            <a:gdLst/>
            <a:ahLst/>
            <a:cxnLst/>
            <a:rect r="r" b="b" t="t" l="l"/>
            <a:pathLst>
              <a:path h="8113414" w="5408942">
                <a:moveTo>
                  <a:pt x="0" y="0"/>
                </a:moveTo>
                <a:lnTo>
                  <a:pt x="5408943" y="0"/>
                </a:lnTo>
                <a:lnTo>
                  <a:pt x="5408943" y="8113413"/>
                </a:lnTo>
                <a:lnTo>
                  <a:pt x="0" y="8113413"/>
                </a:lnTo>
                <a:lnTo>
                  <a:pt x="0" y="0"/>
                </a:lnTo>
                <a:close/>
              </a:path>
            </a:pathLst>
          </a:custGeom>
          <a:blipFill>
            <a:blip r:embed="rId3">
              <a:alphaModFix amt="29000"/>
            </a:blip>
            <a:stretch>
              <a:fillRect l="0" t="0" r="0" b="0"/>
            </a:stretch>
          </a:blipFill>
        </p:spPr>
      </p:sp>
      <p:sp>
        <p:nvSpPr>
          <p:cNvPr name="Freeform 3" id="3"/>
          <p:cNvSpPr/>
          <p:nvPr/>
        </p:nvSpPr>
        <p:spPr>
          <a:xfrm flipH="false" flipV="false" rot="0">
            <a:off x="767071" y="1028700"/>
            <a:ext cx="3198315" cy="1038050"/>
          </a:xfrm>
          <a:custGeom>
            <a:avLst/>
            <a:gdLst/>
            <a:ahLst/>
            <a:cxnLst/>
            <a:rect r="r" b="b" t="t" l="l"/>
            <a:pathLst>
              <a:path h="1038050" w="3198315">
                <a:moveTo>
                  <a:pt x="0" y="0"/>
                </a:moveTo>
                <a:lnTo>
                  <a:pt x="3198315" y="0"/>
                </a:lnTo>
                <a:lnTo>
                  <a:pt x="3198315" y="1038050"/>
                </a:lnTo>
                <a:lnTo>
                  <a:pt x="0" y="1038050"/>
                </a:lnTo>
                <a:lnTo>
                  <a:pt x="0" y="0"/>
                </a:lnTo>
                <a:close/>
              </a:path>
            </a:pathLst>
          </a:custGeom>
          <a:blipFill>
            <a:blip r:embed="rId4">
              <a:extLst>
                <a:ext uri="{96DAC541-7B7A-43D3-8B79-37D633B846F1}">
                  <asvg:svgBlip xmlns:asvg="http://schemas.microsoft.com/office/drawing/2016/SVG/main" r:embed="rId5"/>
                </a:ext>
              </a:extLst>
            </a:blip>
            <a:stretch>
              <a:fillRect l="0" t="0" r="-2218" b="-36857"/>
            </a:stretch>
          </a:blipFill>
        </p:spPr>
      </p:sp>
      <p:sp>
        <p:nvSpPr>
          <p:cNvPr name="TextBox 4" id="4"/>
          <p:cNvSpPr txBox="true"/>
          <p:nvPr/>
        </p:nvSpPr>
        <p:spPr>
          <a:xfrm rot="0">
            <a:off x="1028700" y="400499"/>
            <a:ext cx="5873371" cy="4582336"/>
          </a:xfrm>
          <a:prstGeom prst="rect">
            <a:avLst/>
          </a:prstGeom>
        </p:spPr>
        <p:txBody>
          <a:bodyPr anchor="t" rtlCol="false" tIns="0" lIns="0" bIns="0" rIns="0">
            <a:spAutoFit/>
          </a:bodyPr>
          <a:lstStyle/>
          <a:p>
            <a:pPr algn="l">
              <a:lnSpc>
                <a:spcPts val="3630"/>
              </a:lnSpc>
            </a:pPr>
          </a:p>
          <a:p>
            <a:pPr algn="l">
              <a:lnSpc>
                <a:spcPts val="3630"/>
              </a:lnSpc>
            </a:pPr>
          </a:p>
          <a:p>
            <a:pPr algn="l">
              <a:lnSpc>
                <a:spcPts val="3770"/>
              </a:lnSpc>
            </a:pPr>
            <a:r>
              <a:rPr lang="en-US" sz="2693" b="true">
                <a:solidFill>
                  <a:srgbClr val="FFFFFF"/>
                </a:solidFill>
                <a:latin typeface="Canva Sans Bold"/>
                <a:ea typeface="Canva Sans Bold"/>
                <a:cs typeface="Canva Sans Bold"/>
                <a:sym typeface="Canva Sans Bold"/>
              </a:rPr>
              <a:t>Approach: </a:t>
            </a:r>
          </a:p>
          <a:p>
            <a:pPr algn="l">
              <a:lnSpc>
                <a:spcPts val="3630"/>
              </a:lnSpc>
            </a:pPr>
          </a:p>
          <a:p>
            <a:pPr algn="l">
              <a:lnSpc>
                <a:spcPts val="3630"/>
              </a:lnSpc>
            </a:pPr>
          </a:p>
          <a:p>
            <a:pPr algn="l">
              <a:lnSpc>
                <a:spcPts val="3630"/>
              </a:lnSpc>
            </a:pPr>
            <a:r>
              <a:rPr lang="en-US" sz="2593">
                <a:solidFill>
                  <a:srgbClr val="FFFFFF"/>
                </a:solidFill>
                <a:latin typeface="Canva Sans"/>
                <a:ea typeface="Canva Sans"/>
                <a:cs typeface="Canva Sans"/>
                <a:sym typeface="Canva Sans"/>
              </a:rPr>
              <a:t>We are comparing multiple text representation models, specifically focusing on BILSTM, mBERT, and mT5-based text encoders.</a:t>
            </a:r>
          </a:p>
          <a:p>
            <a:pPr algn="l">
              <a:lnSpc>
                <a:spcPts val="3630"/>
              </a:lnSpc>
            </a:pPr>
          </a:p>
        </p:txBody>
      </p:sp>
      <p:sp>
        <p:nvSpPr>
          <p:cNvPr name="Freeform 5" id="5"/>
          <p:cNvSpPr/>
          <p:nvPr/>
        </p:nvSpPr>
        <p:spPr>
          <a:xfrm flipH="false" flipV="false" rot="0">
            <a:off x="-10081256" y="-4753021"/>
            <a:ext cx="11563441" cy="11563441"/>
          </a:xfrm>
          <a:custGeom>
            <a:avLst/>
            <a:gdLst/>
            <a:ahLst/>
            <a:cxnLst/>
            <a:rect r="r" b="b" t="t" l="l"/>
            <a:pathLst>
              <a:path h="11563441" w="11563441">
                <a:moveTo>
                  <a:pt x="0" y="0"/>
                </a:moveTo>
                <a:lnTo>
                  <a:pt x="11563441" y="0"/>
                </a:lnTo>
                <a:lnTo>
                  <a:pt x="11563441" y="11563442"/>
                </a:lnTo>
                <a:lnTo>
                  <a:pt x="0" y="11563442"/>
                </a:lnTo>
                <a:lnTo>
                  <a:pt x="0" y="0"/>
                </a:lnTo>
                <a:close/>
              </a:path>
            </a:pathLst>
          </a:custGeom>
          <a:blipFill>
            <a:blip r:embed="rId6">
              <a:alphaModFix amt="50000"/>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7612244" y="1357432"/>
            <a:ext cx="10123288" cy="7250805"/>
          </a:xfrm>
          <a:custGeom>
            <a:avLst/>
            <a:gdLst/>
            <a:ahLst/>
            <a:cxnLst/>
            <a:rect r="r" b="b" t="t" l="l"/>
            <a:pathLst>
              <a:path h="7250805" w="10123288">
                <a:moveTo>
                  <a:pt x="0" y="0"/>
                </a:moveTo>
                <a:lnTo>
                  <a:pt x="10123288" y="0"/>
                </a:lnTo>
                <a:lnTo>
                  <a:pt x="10123288" y="7250805"/>
                </a:lnTo>
                <a:lnTo>
                  <a:pt x="0" y="7250805"/>
                </a:lnTo>
                <a:lnTo>
                  <a:pt x="0" y="0"/>
                </a:lnTo>
                <a:close/>
              </a:path>
            </a:pathLst>
          </a:custGeom>
          <a:blipFill>
            <a:blip r:embed="rId8"/>
            <a:stretch>
              <a:fillRect l="0" t="0" r="0" b="0"/>
            </a:stretch>
          </a:blipFill>
        </p:spPr>
      </p:sp>
      <p:sp>
        <p:nvSpPr>
          <p:cNvPr name="Freeform 7" id="7"/>
          <p:cNvSpPr/>
          <p:nvPr/>
        </p:nvSpPr>
        <p:spPr>
          <a:xfrm flipH="false" flipV="false" rot="0">
            <a:off x="11047895" y="7404368"/>
            <a:ext cx="3251986" cy="1203869"/>
          </a:xfrm>
          <a:custGeom>
            <a:avLst/>
            <a:gdLst/>
            <a:ahLst/>
            <a:cxnLst/>
            <a:rect r="r" b="b" t="t" l="l"/>
            <a:pathLst>
              <a:path h="1203869" w="3251986">
                <a:moveTo>
                  <a:pt x="0" y="0"/>
                </a:moveTo>
                <a:lnTo>
                  <a:pt x="3251986" y="0"/>
                </a:lnTo>
                <a:lnTo>
                  <a:pt x="3251986" y="1203869"/>
                </a:lnTo>
                <a:lnTo>
                  <a:pt x="0" y="1203869"/>
                </a:lnTo>
                <a:lnTo>
                  <a:pt x="0" y="0"/>
                </a:lnTo>
                <a:close/>
              </a:path>
            </a:pathLst>
          </a:custGeom>
          <a:blipFill>
            <a:blip r:embed="rId9">
              <a:extLst>
                <a:ext uri="{96DAC541-7B7A-43D3-8B79-37D633B846F1}">
                  <asvg:svgBlip xmlns:asvg="http://schemas.microsoft.com/office/drawing/2016/SVG/main" r:embed="rId10"/>
                </a:ext>
              </a:extLst>
            </a:blip>
            <a:stretch>
              <a:fillRect l="0" t="-83118" r="0" b="-87009"/>
            </a:stretch>
          </a:blipFill>
        </p:spPr>
      </p:sp>
      <p:sp>
        <p:nvSpPr>
          <p:cNvPr name="TextBox 8" id="8"/>
          <p:cNvSpPr txBox="true"/>
          <p:nvPr/>
        </p:nvSpPr>
        <p:spPr>
          <a:xfrm rot="0">
            <a:off x="1028700" y="8082774"/>
            <a:ext cx="5133996" cy="1308102"/>
          </a:xfrm>
          <a:prstGeom prst="rect">
            <a:avLst/>
          </a:prstGeom>
        </p:spPr>
        <p:txBody>
          <a:bodyPr anchor="t" rtlCol="false" tIns="0" lIns="0" bIns="0" rIns="0">
            <a:spAutoFit/>
          </a:bodyPr>
          <a:lstStyle/>
          <a:p>
            <a:pPr algn="l">
              <a:lnSpc>
                <a:spcPts val="9785"/>
              </a:lnSpc>
            </a:pPr>
            <a:r>
              <a:rPr lang="en-US" sz="10300">
                <a:solidFill>
                  <a:srgbClr val="FFFFFF"/>
                </a:solidFill>
                <a:latin typeface="Canva Sans"/>
                <a:ea typeface="Canva Sans"/>
                <a:cs typeface="Canva Sans"/>
                <a:sym typeface="Canva Sans"/>
              </a:rPr>
              <a:t>Method</a:t>
            </a:r>
          </a:p>
        </p:txBody>
      </p:sp>
      <p:sp>
        <p:nvSpPr>
          <p:cNvPr name="TextBox 9" id="9"/>
          <p:cNvSpPr txBox="true"/>
          <p:nvPr/>
        </p:nvSpPr>
        <p:spPr>
          <a:xfrm rot="0">
            <a:off x="17540418" y="9380220"/>
            <a:ext cx="195114" cy="448310"/>
          </a:xfrm>
          <a:prstGeom prst="rect">
            <a:avLst/>
          </a:prstGeom>
        </p:spPr>
        <p:txBody>
          <a:bodyPr anchor="t" rtlCol="false" tIns="0" lIns="0" bIns="0" rIns="0">
            <a:spAutoFit/>
          </a:bodyPr>
          <a:lstStyle/>
          <a:p>
            <a:pPr algn="ctr">
              <a:lnSpc>
                <a:spcPts val="3640"/>
              </a:lnSpc>
            </a:pPr>
            <a:r>
              <a:rPr lang="en-US" sz="2600">
                <a:solidFill>
                  <a:srgbClr val="FFFFFF"/>
                </a:solidFill>
                <a:latin typeface="Canva Sans"/>
                <a:ea typeface="Canva Sans"/>
                <a:cs typeface="Canva Sans"/>
                <a:sym typeface="Canva Sans"/>
              </a:rPr>
              <a:t>5</a:t>
            </a:r>
          </a:p>
        </p:txBody>
      </p:sp>
      <p:sp>
        <p:nvSpPr>
          <p:cNvPr name="TextBox 10" id="10"/>
          <p:cNvSpPr txBox="true"/>
          <p:nvPr/>
        </p:nvSpPr>
        <p:spPr>
          <a:xfrm rot="0">
            <a:off x="1028700" y="3470424"/>
            <a:ext cx="5873371" cy="4023043"/>
          </a:xfrm>
          <a:prstGeom prst="rect">
            <a:avLst/>
          </a:prstGeom>
        </p:spPr>
        <p:txBody>
          <a:bodyPr anchor="t" rtlCol="false" tIns="0" lIns="0" bIns="0" rIns="0">
            <a:spAutoFit/>
          </a:bodyPr>
          <a:lstStyle/>
          <a:p>
            <a:pPr algn="l">
              <a:lnSpc>
                <a:spcPts val="3630"/>
              </a:lnSpc>
            </a:pPr>
          </a:p>
          <a:p>
            <a:pPr algn="l">
              <a:lnSpc>
                <a:spcPts val="3630"/>
              </a:lnSpc>
            </a:pPr>
          </a:p>
          <a:p>
            <a:pPr algn="l">
              <a:lnSpc>
                <a:spcPts val="3630"/>
              </a:lnSpc>
            </a:pPr>
          </a:p>
          <a:p>
            <a:pPr algn="l">
              <a:lnSpc>
                <a:spcPts val="3630"/>
              </a:lnSpc>
            </a:pPr>
            <a:r>
              <a:rPr lang="en-US" sz="2593">
                <a:solidFill>
                  <a:srgbClr val="FFFFFF"/>
                </a:solidFill>
                <a:latin typeface="Canva Sans"/>
                <a:ea typeface="Canva Sans"/>
                <a:cs typeface="Canva Sans"/>
                <a:sym typeface="Canva Sans"/>
              </a:rPr>
              <a:t>The system takes English text as an input, processes it through the encoder, decodes it using T2M-GPT, and produces a motion sequence.</a:t>
            </a:r>
          </a:p>
          <a:p>
            <a:pPr algn="l">
              <a:lnSpc>
                <a:spcPts val="3630"/>
              </a:lnSpc>
            </a:pPr>
          </a:p>
          <a:p>
            <a:pPr algn="l">
              <a:lnSpc>
                <a:spcPts val="3630"/>
              </a:lnSpc>
            </a:pPr>
            <a:r>
              <a:rPr lang="en-US" sz="2593">
                <a:solidFill>
                  <a:srgbClr val="FFFFFF"/>
                </a:solidFill>
                <a:latin typeface="Canva Sans"/>
                <a:ea typeface="Canva Sans"/>
                <a:cs typeface="Canva Sans"/>
                <a:sym typeface="Canva Sans"/>
              </a:rPr>
              <a:t>Dataset: HumanML3D</a:t>
            </a:r>
          </a:p>
        </p:txBody>
      </p:sp>
      <p:sp>
        <p:nvSpPr>
          <p:cNvPr name="Freeform 11" id="11"/>
          <p:cNvSpPr/>
          <p:nvPr/>
        </p:nvSpPr>
        <p:spPr>
          <a:xfrm flipH="false" flipV="false" rot="0">
            <a:off x="13028812" y="6810421"/>
            <a:ext cx="4511606" cy="1670174"/>
          </a:xfrm>
          <a:custGeom>
            <a:avLst/>
            <a:gdLst/>
            <a:ahLst/>
            <a:cxnLst/>
            <a:rect r="r" b="b" t="t" l="l"/>
            <a:pathLst>
              <a:path h="1670174" w="4511606">
                <a:moveTo>
                  <a:pt x="0" y="0"/>
                </a:moveTo>
                <a:lnTo>
                  <a:pt x="4511606" y="0"/>
                </a:lnTo>
                <a:lnTo>
                  <a:pt x="4511606" y="1670174"/>
                </a:lnTo>
                <a:lnTo>
                  <a:pt x="0" y="1670174"/>
                </a:lnTo>
                <a:lnTo>
                  <a:pt x="0" y="0"/>
                </a:lnTo>
                <a:close/>
              </a:path>
            </a:pathLst>
          </a:custGeom>
          <a:blipFill>
            <a:blip r:embed="rId9">
              <a:extLst>
                <a:ext uri="{96DAC541-7B7A-43D3-8B79-37D633B846F1}">
                  <asvg:svgBlip xmlns:asvg="http://schemas.microsoft.com/office/drawing/2016/SVG/main" r:embed="rId10"/>
                </a:ext>
              </a:extLst>
            </a:blip>
            <a:stretch>
              <a:fillRect l="0" t="-83118" r="0" b="-87009"/>
            </a:stretch>
          </a:blipFill>
        </p:spPr>
      </p:sp>
      <p:sp>
        <p:nvSpPr>
          <p:cNvPr name="Freeform 12" id="12"/>
          <p:cNvSpPr/>
          <p:nvPr/>
        </p:nvSpPr>
        <p:spPr>
          <a:xfrm flipH="false" flipV="false" rot="0">
            <a:off x="11793641" y="4511226"/>
            <a:ext cx="465991" cy="172508"/>
          </a:xfrm>
          <a:custGeom>
            <a:avLst/>
            <a:gdLst/>
            <a:ahLst/>
            <a:cxnLst/>
            <a:rect r="r" b="b" t="t" l="l"/>
            <a:pathLst>
              <a:path h="172508" w="465991">
                <a:moveTo>
                  <a:pt x="0" y="0"/>
                </a:moveTo>
                <a:lnTo>
                  <a:pt x="465990" y="0"/>
                </a:lnTo>
                <a:lnTo>
                  <a:pt x="465990" y="172508"/>
                </a:lnTo>
                <a:lnTo>
                  <a:pt x="0" y="172508"/>
                </a:lnTo>
                <a:lnTo>
                  <a:pt x="0" y="0"/>
                </a:lnTo>
                <a:close/>
              </a:path>
            </a:pathLst>
          </a:custGeom>
          <a:blipFill>
            <a:blip r:embed="rId9">
              <a:extLst>
                <a:ext uri="{96DAC541-7B7A-43D3-8B79-37D633B846F1}">
                  <asvg:svgBlip xmlns:asvg="http://schemas.microsoft.com/office/drawing/2016/SVG/main" r:embed="rId10"/>
                </a:ext>
              </a:extLst>
            </a:blip>
            <a:stretch>
              <a:fillRect l="0" t="-83118" r="0" b="-87009"/>
            </a:stretch>
          </a:blipFill>
        </p:spPr>
      </p:sp>
      <p:sp>
        <p:nvSpPr>
          <p:cNvPr name="Freeform 13" id="13"/>
          <p:cNvSpPr/>
          <p:nvPr/>
        </p:nvSpPr>
        <p:spPr>
          <a:xfrm flipH="false" flipV="false" rot="0">
            <a:off x="11327650" y="4511226"/>
            <a:ext cx="465991" cy="172508"/>
          </a:xfrm>
          <a:custGeom>
            <a:avLst/>
            <a:gdLst/>
            <a:ahLst/>
            <a:cxnLst/>
            <a:rect r="r" b="b" t="t" l="l"/>
            <a:pathLst>
              <a:path h="172508" w="465991">
                <a:moveTo>
                  <a:pt x="0" y="0"/>
                </a:moveTo>
                <a:lnTo>
                  <a:pt x="465991" y="0"/>
                </a:lnTo>
                <a:lnTo>
                  <a:pt x="465991" y="172508"/>
                </a:lnTo>
                <a:lnTo>
                  <a:pt x="0" y="172508"/>
                </a:lnTo>
                <a:lnTo>
                  <a:pt x="0" y="0"/>
                </a:lnTo>
                <a:close/>
              </a:path>
            </a:pathLst>
          </a:custGeom>
          <a:blipFill>
            <a:blip r:embed="rId9">
              <a:extLst>
                <a:ext uri="{96DAC541-7B7A-43D3-8B79-37D633B846F1}">
                  <asvg:svgBlip xmlns:asvg="http://schemas.microsoft.com/office/drawing/2016/SVG/main" r:embed="rId10"/>
                </a:ext>
              </a:extLst>
            </a:blip>
            <a:stretch>
              <a:fillRect l="0" t="-83118" r="0" b="-87009"/>
            </a:stretch>
          </a:blipFill>
        </p:spPr>
      </p:sp>
      <p:sp>
        <p:nvSpPr>
          <p:cNvPr name="Freeform 14" id="14"/>
          <p:cNvSpPr/>
          <p:nvPr/>
        </p:nvSpPr>
        <p:spPr>
          <a:xfrm flipH="false" flipV="false" rot="0">
            <a:off x="11047895" y="4511226"/>
            <a:ext cx="465991" cy="172508"/>
          </a:xfrm>
          <a:custGeom>
            <a:avLst/>
            <a:gdLst/>
            <a:ahLst/>
            <a:cxnLst/>
            <a:rect r="r" b="b" t="t" l="l"/>
            <a:pathLst>
              <a:path h="172508" w="465991">
                <a:moveTo>
                  <a:pt x="0" y="0"/>
                </a:moveTo>
                <a:lnTo>
                  <a:pt x="465991" y="0"/>
                </a:lnTo>
                <a:lnTo>
                  <a:pt x="465991" y="172508"/>
                </a:lnTo>
                <a:lnTo>
                  <a:pt x="0" y="172508"/>
                </a:lnTo>
                <a:lnTo>
                  <a:pt x="0" y="0"/>
                </a:lnTo>
                <a:close/>
              </a:path>
            </a:pathLst>
          </a:custGeom>
          <a:blipFill>
            <a:blip r:embed="rId9">
              <a:extLst>
                <a:ext uri="{96DAC541-7B7A-43D3-8B79-37D633B846F1}">
                  <asvg:svgBlip xmlns:asvg="http://schemas.microsoft.com/office/drawing/2016/SVG/main" r:embed="rId10"/>
                </a:ext>
              </a:extLst>
            </a:blip>
            <a:stretch>
              <a:fillRect l="0" t="-83118" r="0" b="-87009"/>
            </a:stretch>
          </a:blipFill>
        </p:spPr>
      </p:sp>
      <p:sp>
        <p:nvSpPr>
          <p:cNvPr name="Freeform 15" id="15"/>
          <p:cNvSpPr/>
          <p:nvPr/>
        </p:nvSpPr>
        <p:spPr>
          <a:xfrm flipH="false" flipV="false" rot="0">
            <a:off x="11047895" y="5598813"/>
            <a:ext cx="465991" cy="172508"/>
          </a:xfrm>
          <a:custGeom>
            <a:avLst/>
            <a:gdLst/>
            <a:ahLst/>
            <a:cxnLst/>
            <a:rect r="r" b="b" t="t" l="l"/>
            <a:pathLst>
              <a:path h="172508" w="465991">
                <a:moveTo>
                  <a:pt x="0" y="0"/>
                </a:moveTo>
                <a:lnTo>
                  <a:pt x="465991" y="0"/>
                </a:lnTo>
                <a:lnTo>
                  <a:pt x="465991" y="172508"/>
                </a:lnTo>
                <a:lnTo>
                  <a:pt x="0" y="172508"/>
                </a:lnTo>
                <a:lnTo>
                  <a:pt x="0" y="0"/>
                </a:lnTo>
                <a:close/>
              </a:path>
            </a:pathLst>
          </a:custGeom>
          <a:blipFill>
            <a:blip r:embed="rId9">
              <a:extLst>
                <a:ext uri="{96DAC541-7B7A-43D3-8B79-37D633B846F1}">
                  <asvg:svgBlip xmlns:asvg="http://schemas.microsoft.com/office/drawing/2016/SVG/main" r:embed="rId10"/>
                </a:ext>
              </a:extLst>
            </a:blip>
            <a:stretch>
              <a:fillRect l="0" t="-83118" r="0" b="-87009"/>
            </a:stretch>
          </a:blipFill>
        </p:spPr>
      </p:sp>
      <p:sp>
        <p:nvSpPr>
          <p:cNvPr name="Freeform 16" id="16"/>
          <p:cNvSpPr/>
          <p:nvPr/>
        </p:nvSpPr>
        <p:spPr>
          <a:xfrm flipH="false" flipV="false" rot="0">
            <a:off x="11513886" y="5598813"/>
            <a:ext cx="465991" cy="172508"/>
          </a:xfrm>
          <a:custGeom>
            <a:avLst/>
            <a:gdLst/>
            <a:ahLst/>
            <a:cxnLst/>
            <a:rect r="r" b="b" t="t" l="l"/>
            <a:pathLst>
              <a:path h="172508" w="465991">
                <a:moveTo>
                  <a:pt x="0" y="0"/>
                </a:moveTo>
                <a:lnTo>
                  <a:pt x="465991" y="0"/>
                </a:lnTo>
                <a:lnTo>
                  <a:pt x="465991" y="172508"/>
                </a:lnTo>
                <a:lnTo>
                  <a:pt x="0" y="172508"/>
                </a:lnTo>
                <a:lnTo>
                  <a:pt x="0" y="0"/>
                </a:lnTo>
                <a:close/>
              </a:path>
            </a:pathLst>
          </a:custGeom>
          <a:blipFill>
            <a:blip r:embed="rId9">
              <a:extLst>
                <a:ext uri="{96DAC541-7B7A-43D3-8B79-37D633B846F1}">
                  <asvg:svgBlip xmlns:asvg="http://schemas.microsoft.com/office/drawing/2016/SVG/main" r:embed="rId10"/>
                </a:ext>
              </a:extLst>
            </a:blip>
            <a:stretch>
              <a:fillRect l="0" t="-83118" r="0" b="-87009"/>
            </a:stretch>
          </a:blipFill>
        </p:spPr>
      </p:sp>
      <p:sp>
        <p:nvSpPr>
          <p:cNvPr name="Freeform 17" id="17"/>
          <p:cNvSpPr/>
          <p:nvPr/>
        </p:nvSpPr>
        <p:spPr>
          <a:xfrm flipH="false" flipV="false" rot="0">
            <a:off x="11793641" y="5598813"/>
            <a:ext cx="465991" cy="172508"/>
          </a:xfrm>
          <a:custGeom>
            <a:avLst/>
            <a:gdLst/>
            <a:ahLst/>
            <a:cxnLst/>
            <a:rect r="r" b="b" t="t" l="l"/>
            <a:pathLst>
              <a:path h="172508" w="465991">
                <a:moveTo>
                  <a:pt x="0" y="0"/>
                </a:moveTo>
                <a:lnTo>
                  <a:pt x="465990" y="0"/>
                </a:lnTo>
                <a:lnTo>
                  <a:pt x="465990" y="172508"/>
                </a:lnTo>
                <a:lnTo>
                  <a:pt x="0" y="172508"/>
                </a:lnTo>
                <a:lnTo>
                  <a:pt x="0" y="0"/>
                </a:lnTo>
                <a:close/>
              </a:path>
            </a:pathLst>
          </a:custGeom>
          <a:blipFill>
            <a:blip r:embed="rId9">
              <a:extLst>
                <a:ext uri="{96DAC541-7B7A-43D3-8B79-37D633B846F1}">
                  <asvg:svgBlip xmlns:asvg="http://schemas.microsoft.com/office/drawing/2016/SVG/main" r:embed="rId10"/>
                </a:ext>
              </a:extLst>
            </a:blip>
            <a:stretch>
              <a:fillRect l="0" t="-83118" r="0" b="-87009"/>
            </a:stretch>
          </a:blipFill>
        </p:spPr>
      </p:sp>
      <p:sp>
        <p:nvSpPr>
          <p:cNvPr name="Freeform 18" id="18"/>
          <p:cNvSpPr/>
          <p:nvPr/>
        </p:nvSpPr>
        <p:spPr>
          <a:xfrm flipH="false" flipV="false" rot="0">
            <a:off x="11047895" y="6685721"/>
            <a:ext cx="465991" cy="172508"/>
          </a:xfrm>
          <a:custGeom>
            <a:avLst/>
            <a:gdLst/>
            <a:ahLst/>
            <a:cxnLst/>
            <a:rect r="r" b="b" t="t" l="l"/>
            <a:pathLst>
              <a:path h="172508" w="465991">
                <a:moveTo>
                  <a:pt x="0" y="0"/>
                </a:moveTo>
                <a:lnTo>
                  <a:pt x="465991" y="0"/>
                </a:lnTo>
                <a:lnTo>
                  <a:pt x="465991" y="172507"/>
                </a:lnTo>
                <a:lnTo>
                  <a:pt x="0" y="172507"/>
                </a:lnTo>
                <a:lnTo>
                  <a:pt x="0" y="0"/>
                </a:lnTo>
                <a:close/>
              </a:path>
            </a:pathLst>
          </a:custGeom>
          <a:blipFill>
            <a:blip r:embed="rId9">
              <a:extLst>
                <a:ext uri="{96DAC541-7B7A-43D3-8B79-37D633B846F1}">
                  <asvg:svgBlip xmlns:asvg="http://schemas.microsoft.com/office/drawing/2016/SVG/main" r:embed="rId10"/>
                </a:ext>
              </a:extLst>
            </a:blip>
            <a:stretch>
              <a:fillRect l="0" t="-83118" r="0" b="-87009"/>
            </a:stretch>
          </a:blipFill>
        </p:spPr>
      </p:sp>
      <p:sp>
        <p:nvSpPr>
          <p:cNvPr name="Freeform 19" id="19"/>
          <p:cNvSpPr/>
          <p:nvPr/>
        </p:nvSpPr>
        <p:spPr>
          <a:xfrm flipH="false" flipV="false" rot="0">
            <a:off x="11513886" y="6685721"/>
            <a:ext cx="465991" cy="172508"/>
          </a:xfrm>
          <a:custGeom>
            <a:avLst/>
            <a:gdLst/>
            <a:ahLst/>
            <a:cxnLst/>
            <a:rect r="r" b="b" t="t" l="l"/>
            <a:pathLst>
              <a:path h="172508" w="465991">
                <a:moveTo>
                  <a:pt x="0" y="0"/>
                </a:moveTo>
                <a:lnTo>
                  <a:pt x="465991" y="0"/>
                </a:lnTo>
                <a:lnTo>
                  <a:pt x="465991" y="172507"/>
                </a:lnTo>
                <a:lnTo>
                  <a:pt x="0" y="172507"/>
                </a:lnTo>
                <a:lnTo>
                  <a:pt x="0" y="0"/>
                </a:lnTo>
                <a:close/>
              </a:path>
            </a:pathLst>
          </a:custGeom>
          <a:blipFill>
            <a:blip r:embed="rId9">
              <a:extLst>
                <a:ext uri="{96DAC541-7B7A-43D3-8B79-37D633B846F1}">
                  <asvg:svgBlip xmlns:asvg="http://schemas.microsoft.com/office/drawing/2016/SVG/main" r:embed="rId10"/>
                </a:ext>
              </a:extLst>
            </a:blip>
            <a:stretch>
              <a:fillRect l="0" t="-83118" r="0" b="-87009"/>
            </a:stretch>
          </a:blipFill>
        </p:spPr>
      </p:sp>
      <p:sp>
        <p:nvSpPr>
          <p:cNvPr name="Freeform 20" id="20"/>
          <p:cNvSpPr/>
          <p:nvPr/>
        </p:nvSpPr>
        <p:spPr>
          <a:xfrm flipH="false" flipV="false" rot="0">
            <a:off x="11793641" y="6685721"/>
            <a:ext cx="465991" cy="172508"/>
          </a:xfrm>
          <a:custGeom>
            <a:avLst/>
            <a:gdLst/>
            <a:ahLst/>
            <a:cxnLst/>
            <a:rect r="r" b="b" t="t" l="l"/>
            <a:pathLst>
              <a:path h="172508" w="465991">
                <a:moveTo>
                  <a:pt x="0" y="0"/>
                </a:moveTo>
                <a:lnTo>
                  <a:pt x="465990" y="0"/>
                </a:lnTo>
                <a:lnTo>
                  <a:pt x="465990" y="172507"/>
                </a:lnTo>
                <a:lnTo>
                  <a:pt x="0" y="172507"/>
                </a:lnTo>
                <a:lnTo>
                  <a:pt x="0" y="0"/>
                </a:lnTo>
                <a:close/>
              </a:path>
            </a:pathLst>
          </a:custGeom>
          <a:blipFill>
            <a:blip r:embed="rId9">
              <a:extLst>
                <a:ext uri="{96DAC541-7B7A-43D3-8B79-37D633B846F1}">
                  <asvg:svgBlip xmlns:asvg="http://schemas.microsoft.com/office/drawing/2016/SVG/main" r:embed="rId10"/>
                </a:ext>
              </a:extLst>
            </a:blip>
            <a:stretch>
              <a:fillRect l="0" t="-83118" r="0" b="-87009"/>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071846"/>
        </a:solidFill>
      </p:bgPr>
    </p:bg>
    <p:spTree>
      <p:nvGrpSpPr>
        <p:cNvPr id="1" name=""/>
        <p:cNvGrpSpPr/>
        <p:nvPr/>
      </p:nvGrpSpPr>
      <p:grpSpPr>
        <a:xfrm>
          <a:off x="0" y="0"/>
          <a:ext cx="0" cy="0"/>
          <a:chOff x="0" y="0"/>
          <a:chExt cx="0" cy="0"/>
        </a:xfrm>
      </p:grpSpPr>
      <p:sp>
        <p:nvSpPr>
          <p:cNvPr name="Freeform 2" id="2"/>
          <p:cNvSpPr/>
          <p:nvPr/>
        </p:nvSpPr>
        <p:spPr>
          <a:xfrm flipH="false" flipV="false" rot="0">
            <a:off x="12799941" y="-477008"/>
            <a:ext cx="11563441" cy="11563441"/>
          </a:xfrm>
          <a:custGeom>
            <a:avLst/>
            <a:gdLst/>
            <a:ahLst/>
            <a:cxnLst/>
            <a:rect r="r" b="b" t="t" l="l"/>
            <a:pathLst>
              <a:path h="11563441" w="11563441">
                <a:moveTo>
                  <a:pt x="0" y="0"/>
                </a:moveTo>
                <a:lnTo>
                  <a:pt x="11563442" y="0"/>
                </a:lnTo>
                <a:lnTo>
                  <a:pt x="11563442" y="11563441"/>
                </a:lnTo>
                <a:lnTo>
                  <a:pt x="0" y="11563441"/>
                </a:lnTo>
                <a:lnTo>
                  <a:pt x="0" y="0"/>
                </a:lnTo>
                <a:close/>
              </a:path>
            </a:pathLst>
          </a:custGeom>
          <a:blipFill>
            <a:blip r:embed="rId3">
              <a:alphaModFix amt="50000"/>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5781721" y="-638221"/>
            <a:ext cx="11563441" cy="11563441"/>
          </a:xfrm>
          <a:custGeom>
            <a:avLst/>
            <a:gdLst/>
            <a:ahLst/>
            <a:cxnLst/>
            <a:rect r="r" b="b" t="t" l="l"/>
            <a:pathLst>
              <a:path h="11563441" w="11563441">
                <a:moveTo>
                  <a:pt x="0" y="0"/>
                </a:moveTo>
                <a:lnTo>
                  <a:pt x="11563442" y="0"/>
                </a:lnTo>
                <a:lnTo>
                  <a:pt x="11563442" y="11563442"/>
                </a:lnTo>
                <a:lnTo>
                  <a:pt x="0" y="11563442"/>
                </a:lnTo>
                <a:lnTo>
                  <a:pt x="0" y="0"/>
                </a:lnTo>
                <a:close/>
              </a:path>
            </a:pathLst>
          </a:custGeom>
          <a:blipFill>
            <a:blip r:embed="rId3">
              <a:alphaModFix amt="50000"/>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6494253" y="0"/>
            <a:ext cx="8526125" cy="8708530"/>
          </a:xfrm>
          <a:custGeom>
            <a:avLst/>
            <a:gdLst/>
            <a:ahLst/>
            <a:cxnLst/>
            <a:rect r="r" b="b" t="t" l="l"/>
            <a:pathLst>
              <a:path h="8708530" w="8526125">
                <a:moveTo>
                  <a:pt x="0" y="0"/>
                </a:moveTo>
                <a:lnTo>
                  <a:pt x="8526126" y="0"/>
                </a:lnTo>
                <a:lnTo>
                  <a:pt x="8526126" y="8708530"/>
                </a:lnTo>
                <a:lnTo>
                  <a:pt x="0" y="870853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5" id="5"/>
          <p:cNvSpPr txBox="true"/>
          <p:nvPr/>
        </p:nvSpPr>
        <p:spPr>
          <a:xfrm rot="0">
            <a:off x="-1280987" y="1219200"/>
            <a:ext cx="10767889" cy="1016020"/>
          </a:xfrm>
          <a:prstGeom prst="rect">
            <a:avLst/>
          </a:prstGeom>
        </p:spPr>
        <p:txBody>
          <a:bodyPr anchor="t" rtlCol="false" tIns="0" lIns="0" bIns="0" rIns="0">
            <a:spAutoFit/>
          </a:bodyPr>
          <a:lstStyle/>
          <a:p>
            <a:pPr algn="ctr">
              <a:lnSpc>
                <a:spcPts val="7600"/>
              </a:lnSpc>
            </a:pPr>
            <a:r>
              <a:rPr lang="en-US" sz="8000">
                <a:solidFill>
                  <a:srgbClr val="FFFFFF"/>
                </a:solidFill>
                <a:latin typeface="Canva Sans"/>
                <a:ea typeface="Canva Sans"/>
                <a:cs typeface="Canva Sans"/>
                <a:sym typeface="Canva Sans"/>
              </a:rPr>
              <a:t>Experiments</a:t>
            </a:r>
          </a:p>
        </p:txBody>
      </p:sp>
      <p:sp>
        <p:nvSpPr>
          <p:cNvPr name="TextBox 6" id="6"/>
          <p:cNvSpPr txBox="true"/>
          <p:nvPr/>
        </p:nvSpPr>
        <p:spPr>
          <a:xfrm rot="0">
            <a:off x="1283723" y="2327684"/>
            <a:ext cx="9527407" cy="7580997"/>
          </a:xfrm>
          <a:prstGeom prst="rect">
            <a:avLst/>
          </a:prstGeom>
        </p:spPr>
        <p:txBody>
          <a:bodyPr anchor="t" rtlCol="false" tIns="0" lIns="0" bIns="0" rIns="0">
            <a:spAutoFit/>
          </a:bodyPr>
          <a:lstStyle/>
          <a:p>
            <a:pPr algn="l">
              <a:lnSpc>
                <a:spcPts val="3199"/>
              </a:lnSpc>
            </a:pPr>
          </a:p>
          <a:p>
            <a:pPr algn="l">
              <a:lnSpc>
                <a:spcPts val="3199"/>
              </a:lnSpc>
            </a:pPr>
            <a:r>
              <a:rPr lang="en-US" sz="2285" b="true">
                <a:solidFill>
                  <a:srgbClr val="FFFFFF"/>
                </a:solidFill>
                <a:latin typeface="Canva Sans Bold"/>
                <a:ea typeface="Canva Sans Bold"/>
                <a:cs typeface="Canva Sans Bold"/>
                <a:sym typeface="Canva Sans Bold"/>
              </a:rPr>
              <a:t>Quantitative Evaluation: </a:t>
            </a:r>
            <a:r>
              <a:rPr lang="en-US" sz="2285">
                <a:solidFill>
                  <a:srgbClr val="FFFFFF"/>
                </a:solidFill>
                <a:latin typeface="Canva Sans"/>
                <a:ea typeface="Canva Sans"/>
                <a:cs typeface="Canva Sans"/>
                <a:sym typeface="Canva Sans"/>
              </a:rPr>
              <a:t>R@1, R@5, FID, and MultiModal Distance on existing text-to-motion datasets (e.g., official test split on HumanML3D).</a:t>
            </a:r>
          </a:p>
          <a:p>
            <a:pPr algn="l">
              <a:lnSpc>
                <a:spcPts val="3199"/>
              </a:lnSpc>
            </a:pPr>
          </a:p>
          <a:p>
            <a:pPr algn="l">
              <a:lnSpc>
                <a:spcPts val="3199"/>
              </a:lnSpc>
            </a:pPr>
          </a:p>
          <a:p>
            <a:pPr algn="l">
              <a:lnSpc>
                <a:spcPts val="3199"/>
              </a:lnSpc>
            </a:pPr>
            <a:r>
              <a:rPr lang="en-US" sz="2285">
                <a:solidFill>
                  <a:srgbClr val="FFFFFF"/>
                </a:solidFill>
                <a:latin typeface="Canva Sans"/>
                <a:ea typeface="Canva Sans"/>
                <a:cs typeface="Canva Sans"/>
                <a:sym typeface="Canva Sans"/>
              </a:rPr>
              <a:t>Human Evaluation:</a:t>
            </a:r>
          </a:p>
          <a:p>
            <a:pPr algn="l">
              <a:lnSpc>
                <a:spcPts val="3199"/>
              </a:lnSpc>
            </a:pPr>
            <a:r>
              <a:rPr lang="en-US" sz="2285">
                <a:solidFill>
                  <a:srgbClr val="FFFFFF"/>
                </a:solidFill>
                <a:latin typeface="Canva Sans"/>
                <a:ea typeface="Canva Sans"/>
                <a:cs typeface="Canva Sans"/>
                <a:sym typeface="Canva Sans"/>
              </a:rPr>
              <a:t>Cross-language: Generate 100 Chinese (zero-shot) and 100 English movement description sentences.</a:t>
            </a:r>
          </a:p>
          <a:p>
            <a:pPr algn="l">
              <a:lnSpc>
                <a:spcPts val="3199"/>
              </a:lnSpc>
            </a:pPr>
          </a:p>
          <a:p>
            <a:pPr algn="l">
              <a:lnSpc>
                <a:spcPts val="3199"/>
              </a:lnSpc>
            </a:pPr>
          </a:p>
          <a:p>
            <a:pPr algn="l">
              <a:lnSpc>
                <a:spcPts val="3199"/>
              </a:lnSpc>
            </a:pPr>
            <a:r>
              <a:rPr lang="en-US" sz="2285">
                <a:solidFill>
                  <a:srgbClr val="FFFFFF"/>
                </a:solidFill>
                <a:latin typeface="Canva Sans"/>
                <a:ea typeface="Canva Sans"/>
                <a:cs typeface="Canva Sans"/>
                <a:sym typeface="Canva Sans"/>
              </a:rPr>
              <a:t>Multi-Granularity: A mixture of simple and complex sentences.</a:t>
            </a:r>
          </a:p>
          <a:p>
            <a:pPr algn="l">
              <a:lnSpc>
                <a:spcPts val="3199"/>
              </a:lnSpc>
            </a:pPr>
          </a:p>
          <a:p>
            <a:pPr algn="l">
              <a:lnSpc>
                <a:spcPts val="3199"/>
              </a:lnSpc>
            </a:pPr>
          </a:p>
          <a:p>
            <a:pPr algn="l">
              <a:lnSpc>
                <a:spcPts val="3199"/>
              </a:lnSpc>
            </a:pPr>
            <a:r>
              <a:rPr lang="en-US" sz="2285">
                <a:solidFill>
                  <a:srgbClr val="FFFFFF"/>
                </a:solidFill>
                <a:latin typeface="Canva Sans"/>
                <a:ea typeface="Canva Sans"/>
                <a:cs typeface="Canva Sans"/>
                <a:sym typeface="Canva Sans"/>
              </a:rPr>
              <a:t>Testing which of three movements best describes the input sentence.</a:t>
            </a:r>
          </a:p>
          <a:p>
            <a:pPr algn="l">
              <a:lnSpc>
                <a:spcPts val="3199"/>
              </a:lnSpc>
            </a:pPr>
          </a:p>
          <a:p>
            <a:pPr algn="l">
              <a:lnSpc>
                <a:spcPts val="3199"/>
              </a:lnSpc>
            </a:pPr>
          </a:p>
          <a:p>
            <a:pPr algn="l">
              <a:lnSpc>
                <a:spcPts val="3199"/>
              </a:lnSpc>
            </a:pPr>
          </a:p>
        </p:txBody>
      </p:sp>
      <p:sp>
        <p:nvSpPr>
          <p:cNvPr name="Freeform 7" id="7"/>
          <p:cNvSpPr/>
          <p:nvPr/>
        </p:nvSpPr>
        <p:spPr>
          <a:xfrm flipH="false" flipV="false" rot="0">
            <a:off x="-7242403" y="247"/>
            <a:ext cx="8526125" cy="8708530"/>
          </a:xfrm>
          <a:custGeom>
            <a:avLst/>
            <a:gdLst/>
            <a:ahLst/>
            <a:cxnLst/>
            <a:rect r="r" b="b" t="t" l="l"/>
            <a:pathLst>
              <a:path h="8708530" w="8526125">
                <a:moveTo>
                  <a:pt x="0" y="0"/>
                </a:moveTo>
                <a:lnTo>
                  <a:pt x="8526126" y="0"/>
                </a:lnTo>
                <a:lnTo>
                  <a:pt x="8526126" y="8708530"/>
                </a:lnTo>
                <a:lnTo>
                  <a:pt x="0" y="870853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pic>
        <p:nvPicPr>
          <p:cNvPr name="Picture 8" id="8">
            <a:hlinkClick action="ppaction://media"/>
          </p:cNvPr>
          <p:cNvPicPr>
            <a:picLocks noChangeAspect="true"/>
          </p:cNvPicPr>
          <p:nvPr>
            <a:videoFile r:link="rId8"/>
            <p:extLst>
              <p:ext uri="{DAA4B4D4-6D71-4841-9C94-3DE7FCFB9230}">
                <p14:media xmlns:p14="http://schemas.microsoft.com/office/powerpoint/2010/main" r:embed="rId9"/>
              </p:ext>
            </p:extLst>
          </p:nvPr>
        </p:nvPicPr>
        <p:blipFill>
          <a:blip r:embed="rId7"/>
          <a:srcRect l="0" t="204" r="0" b="204"/>
          <a:stretch>
            <a:fillRect/>
          </a:stretch>
        </p:blipFill>
        <p:spPr>
          <a:xfrm flipH="false" flipV="false" rot="0">
            <a:off x="13289532" y="567250"/>
            <a:ext cx="3787262" cy="3787262"/>
          </a:xfrm>
          <a:prstGeom prst="rect">
            <a:avLst/>
          </a:prstGeom>
        </p:spPr>
      </p:pic>
      <p:pic>
        <p:nvPicPr>
          <p:cNvPr name="Picture 9" id="9">
            <a:hlinkClick action="ppaction://media"/>
          </p:cNvPr>
          <p:cNvPicPr>
            <a:picLocks noChangeAspect="true"/>
          </p:cNvPicPr>
          <p:nvPr>
            <a:videoFile r:link="rId11"/>
            <p:extLst>
              <p:ext uri="{DAA4B4D4-6D71-4841-9C94-3DE7FCFB9230}">
                <p14:media xmlns:p14="http://schemas.microsoft.com/office/powerpoint/2010/main" r:embed="rId12"/>
              </p:ext>
            </p:extLst>
          </p:nvPr>
        </p:nvPicPr>
        <p:blipFill>
          <a:blip r:embed="rId10"/>
          <a:srcRect l="0" t="0" r="0" b="0"/>
          <a:stretch>
            <a:fillRect/>
          </a:stretch>
        </p:blipFill>
        <p:spPr>
          <a:xfrm flipH="false" flipV="false" rot="0">
            <a:off x="13289532" y="5304713"/>
            <a:ext cx="3619857" cy="3595724"/>
          </a:xfrm>
          <a:prstGeom prst="rect">
            <a:avLst/>
          </a:prstGeom>
        </p:spPr>
      </p:pic>
      <p:sp>
        <p:nvSpPr>
          <p:cNvPr name="TextBox 10" id="10"/>
          <p:cNvSpPr txBox="true"/>
          <p:nvPr/>
        </p:nvSpPr>
        <p:spPr>
          <a:xfrm rot="0">
            <a:off x="7266188" y="8173758"/>
            <a:ext cx="3755624" cy="352533"/>
          </a:xfrm>
          <a:prstGeom prst="rect">
            <a:avLst/>
          </a:prstGeom>
        </p:spPr>
        <p:txBody>
          <a:bodyPr anchor="t" rtlCol="false" tIns="0" lIns="0" bIns="0" rIns="0">
            <a:spAutoFit/>
          </a:bodyPr>
          <a:lstStyle/>
          <a:p>
            <a:pPr algn="ctr">
              <a:lnSpc>
                <a:spcPts val="2860"/>
              </a:lnSpc>
              <a:spcBef>
                <a:spcPct val="0"/>
              </a:spcBef>
            </a:pPr>
            <a:r>
              <a:rPr lang="en-US" sz="2043">
                <a:solidFill>
                  <a:srgbClr val="000000"/>
                </a:solidFill>
                <a:latin typeface="Canva Sans"/>
                <a:ea typeface="Canva Sans"/>
                <a:cs typeface="Canva Sans"/>
                <a:sym typeface="Canva Sans"/>
              </a:rPr>
              <a:t>www.reallygreatsite.com</a:t>
            </a:r>
          </a:p>
        </p:txBody>
      </p:sp>
      <p:sp>
        <p:nvSpPr>
          <p:cNvPr name="TextBox 11" id="11"/>
          <p:cNvSpPr txBox="true"/>
          <p:nvPr/>
        </p:nvSpPr>
        <p:spPr>
          <a:xfrm rot="0">
            <a:off x="12597629" y="4448365"/>
            <a:ext cx="5449685" cy="695135"/>
          </a:xfrm>
          <a:prstGeom prst="rect">
            <a:avLst/>
          </a:prstGeom>
        </p:spPr>
        <p:txBody>
          <a:bodyPr anchor="t" rtlCol="false" tIns="0" lIns="0" bIns="0" rIns="0">
            <a:spAutoFit/>
          </a:bodyPr>
          <a:lstStyle/>
          <a:p>
            <a:pPr algn="ctr">
              <a:lnSpc>
                <a:spcPts val="1819"/>
              </a:lnSpc>
            </a:pPr>
            <a:r>
              <a:rPr lang="en-US" sz="1299" b="true">
                <a:solidFill>
                  <a:srgbClr val="FF751F"/>
                </a:solidFill>
                <a:latin typeface="Canva Sans Bold"/>
                <a:ea typeface="Canva Sans Bold"/>
                <a:cs typeface="Canva Sans Bold"/>
                <a:sym typeface="Canva Sans Bold"/>
              </a:rPr>
              <a:t>a</a:t>
            </a:r>
            <a:r>
              <a:rPr lang="en-US" b="true" sz="1299">
                <a:solidFill>
                  <a:srgbClr val="FF751F"/>
                </a:solidFill>
                <a:latin typeface="Canva Sans Bold"/>
                <a:ea typeface="Canva Sans Bold"/>
                <a:cs typeface="Canva Sans Bold"/>
                <a:sym typeface="Canva Sans Bold"/>
              </a:rPr>
              <a:t> person slowly punches with their right hand and then slowly punches with their left hand.</a:t>
            </a:r>
          </a:p>
          <a:p>
            <a:pPr algn="ctr">
              <a:lnSpc>
                <a:spcPts val="1819"/>
              </a:lnSpc>
            </a:pPr>
          </a:p>
        </p:txBody>
      </p:sp>
      <p:sp>
        <p:nvSpPr>
          <p:cNvPr name="TextBox 12" id="12"/>
          <p:cNvSpPr txBox="true"/>
          <p:nvPr/>
        </p:nvSpPr>
        <p:spPr>
          <a:xfrm rot="0">
            <a:off x="12078553" y="9248775"/>
            <a:ext cx="6209221" cy="383010"/>
          </a:xfrm>
          <a:prstGeom prst="rect">
            <a:avLst/>
          </a:prstGeom>
        </p:spPr>
        <p:txBody>
          <a:bodyPr anchor="t" rtlCol="false" tIns="0" lIns="0" bIns="0" rIns="0">
            <a:spAutoFit/>
          </a:bodyPr>
          <a:lstStyle/>
          <a:p>
            <a:pPr algn="ctr">
              <a:lnSpc>
                <a:spcPts val="1591"/>
              </a:lnSpc>
            </a:pPr>
            <a:r>
              <a:rPr lang="en-US" sz="1136" b="true">
                <a:solidFill>
                  <a:srgbClr val="FF751F"/>
                </a:solidFill>
                <a:latin typeface="Canva Sans Bold"/>
                <a:ea typeface="Canva Sans Bold"/>
                <a:cs typeface="Canva Sans Bold"/>
                <a:sym typeface="Canva Sans Bold"/>
              </a:rPr>
              <a:t>the</a:t>
            </a:r>
            <a:r>
              <a:rPr lang="en-US" b="true" sz="1136">
                <a:solidFill>
                  <a:srgbClr val="FF751F"/>
                </a:solidFill>
                <a:latin typeface="Canva Sans Bold"/>
                <a:ea typeface="Canva Sans Bold"/>
                <a:cs typeface="Canva Sans Bold"/>
                <a:sym typeface="Canva Sans Bold"/>
              </a:rPr>
              <a:t> person paces to his right, then to his left, and finally to his right again.</a:t>
            </a:r>
          </a:p>
          <a:p>
            <a:pPr algn="ctr">
              <a:lnSpc>
                <a:spcPts val="1591"/>
              </a:lnSpc>
            </a:pPr>
          </a:p>
        </p:txBody>
      </p:sp>
      <p:sp>
        <p:nvSpPr>
          <p:cNvPr name="TextBox 13" id="13"/>
          <p:cNvSpPr txBox="true"/>
          <p:nvPr/>
        </p:nvSpPr>
        <p:spPr>
          <a:xfrm rot="0">
            <a:off x="17556492" y="9460371"/>
            <a:ext cx="162967" cy="448310"/>
          </a:xfrm>
          <a:prstGeom prst="rect">
            <a:avLst/>
          </a:prstGeom>
        </p:spPr>
        <p:txBody>
          <a:bodyPr anchor="t" rtlCol="false" tIns="0" lIns="0" bIns="0" rIns="0">
            <a:spAutoFit/>
          </a:bodyPr>
          <a:lstStyle/>
          <a:p>
            <a:pPr algn="ctr">
              <a:lnSpc>
                <a:spcPts val="3640"/>
              </a:lnSpc>
            </a:pPr>
            <a:r>
              <a:rPr lang="en-US" sz="2600">
                <a:solidFill>
                  <a:srgbClr val="FFFFFF"/>
                </a:solidFill>
                <a:latin typeface="Canva Sans"/>
                <a:ea typeface="Canva Sans"/>
                <a:cs typeface="Canva Sans"/>
                <a:sym typeface="Canva Sans"/>
              </a:rPr>
              <a:t>7</a:t>
            </a:r>
          </a:p>
        </p:txBody>
      </p:sp>
    </p:spTree>
  </p:cSld>
  <p:clrMapOvr>
    <a:masterClrMapping/>
  </p:clrMapOvr>
  <p:timing>
    <p:tnLst>
      <p:par>
        <p:cTn dur="indefinite" restart="never" nodeType="tmRoot">
          <p:childTnLst>
            <p:video>
              <p:cMediaNode vol="100000">
                <p:cTn fill="hold" display="false">
                  <p:stCondLst>
                    <p:cond delay="indefinite"/>
                  </p:stCondLst>
                </p:cTn>
                <p:tgtEl>
                  <p:spTgt spid="8"/>
                </p:tgtEl>
              </p:cMediaNode>
            </p:video>
            <p:video>
              <p:cMediaNode vol="100000">
                <p:cTn fill="hold" display="false">
                  <p:stCondLst>
                    <p:cond delay="indefinite"/>
                  </p:stCondLst>
                </p:cTn>
                <p:tgtEl>
                  <p:spTgt spid="9"/>
                </p:tgtEl>
              </p:cMediaNode>
            </p:video>
          </p:childTnLst>
        </p:cTn>
      </p:par>
    </p:tnLst>
  </p:timing>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071846"/>
        </a:solidFill>
      </p:bgPr>
    </p:bg>
    <p:spTree>
      <p:nvGrpSpPr>
        <p:cNvPr id="1" name=""/>
        <p:cNvGrpSpPr/>
        <p:nvPr/>
      </p:nvGrpSpPr>
      <p:grpSpPr>
        <a:xfrm>
          <a:off x="0" y="0"/>
          <a:ext cx="0" cy="0"/>
          <a:chOff x="0" y="0"/>
          <a:chExt cx="0" cy="0"/>
        </a:xfrm>
      </p:grpSpPr>
      <p:pic>
        <p:nvPicPr>
          <p:cNvPr name="Picture 2" id="2">
            <a:hlinkClick action="ppaction://media"/>
          </p:cNvPr>
          <p:cNvPicPr>
            <a:picLocks noChangeAspect="true"/>
          </p:cNvPicPr>
          <p:nvPr>
            <a:videoFile r:link="rId4"/>
            <p:extLst>
              <p:ext uri="{DAA4B4D4-6D71-4841-9C94-3DE7FCFB9230}">
                <p14:media xmlns:p14="http://schemas.microsoft.com/office/powerpoint/2010/main" r:embed="rId5"/>
              </p:ext>
            </p:extLst>
          </p:nvPr>
        </p:nvPicPr>
        <p:blipFill>
          <a:blip r:embed="rId3"/>
          <a:srcRect l="14382" t="16292" r="7048" b="16583"/>
          <a:stretch>
            <a:fillRect/>
          </a:stretch>
        </p:blipFill>
        <p:spPr>
          <a:xfrm flipH="false" flipV="false" rot="0">
            <a:off x="7367300" y="1992964"/>
            <a:ext cx="4276826" cy="3653876"/>
          </a:xfrm>
          <a:prstGeom prst="rect">
            <a:avLst/>
          </a:prstGeom>
        </p:spPr>
      </p:pic>
      <p:pic>
        <p:nvPicPr>
          <p:cNvPr name="Picture 3" id="3">
            <a:hlinkClick action="ppaction://media"/>
          </p:cNvPr>
          <p:cNvPicPr>
            <a:picLocks noChangeAspect="true"/>
          </p:cNvPicPr>
          <p:nvPr>
            <a:videoFile r:link="rId7"/>
            <p:extLst>
              <p:ext uri="{DAA4B4D4-6D71-4841-9C94-3DE7FCFB9230}">
                <p14:media xmlns:p14="http://schemas.microsoft.com/office/powerpoint/2010/main" r:embed="rId8"/>
              </p:ext>
            </p:extLst>
          </p:nvPr>
        </p:nvPicPr>
        <p:blipFill>
          <a:blip r:embed="rId6"/>
          <a:srcRect l="10895" t="14810" r="7731" b="14082"/>
          <a:stretch>
            <a:fillRect/>
          </a:stretch>
        </p:blipFill>
        <p:spPr>
          <a:xfrm flipH="false" flipV="false" rot="0">
            <a:off x="7367300" y="5923065"/>
            <a:ext cx="4535095" cy="3962937"/>
          </a:xfrm>
          <a:prstGeom prst="rect">
            <a:avLst/>
          </a:prstGeom>
        </p:spPr>
      </p:pic>
      <p:pic>
        <p:nvPicPr>
          <p:cNvPr name="Picture 4" id="4">
            <a:hlinkClick action="ppaction://media"/>
          </p:cNvPr>
          <p:cNvPicPr>
            <a:picLocks noChangeAspect="true"/>
          </p:cNvPicPr>
          <p:nvPr>
            <a:videoFile r:link="rId10"/>
            <p:extLst>
              <p:ext uri="{DAA4B4D4-6D71-4841-9C94-3DE7FCFB9230}">
                <p14:media xmlns:p14="http://schemas.microsoft.com/office/powerpoint/2010/main" r:embed="rId11"/>
              </p:ext>
            </p:extLst>
          </p:nvPr>
        </p:nvPicPr>
        <p:blipFill>
          <a:blip r:embed="rId9"/>
          <a:srcRect l="25114" t="114" r="20985" b="53324"/>
          <a:stretch>
            <a:fillRect/>
          </a:stretch>
        </p:blipFill>
        <p:spPr>
          <a:xfrm flipH="false" flipV="false" rot="0">
            <a:off x="1749930" y="1992964"/>
            <a:ext cx="4229857" cy="3653876"/>
          </a:xfrm>
          <a:prstGeom prst="rect">
            <a:avLst/>
          </a:prstGeom>
        </p:spPr>
      </p:pic>
      <p:pic>
        <p:nvPicPr>
          <p:cNvPr name="Picture 5" id="5">
            <a:hlinkClick action="ppaction://media"/>
          </p:cNvPr>
          <p:cNvPicPr>
            <a:picLocks noChangeAspect="true"/>
          </p:cNvPicPr>
          <p:nvPr>
            <a:videoFile r:link="rId13"/>
            <p:extLst>
              <p:ext uri="{DAA4B4D4-6D71-4841-9C94-3DE7FCFB9230}">
                <p14:media xmlns:p14="http://schemas.microsoft.com/office/powerpoint/2010/main" r:embed="rId14"/>
              </p:ext>
            </p:extLst>
          </p:nvPr>
        </p:nvPicPr>
        <p:blipFill>
          <a:blip r:embed="rId12"/>
          <a:srcRect l="24310" t="0" r="19758" b="46967"/>
          <a:stretch>
            <a:fillRect/>
          </a:stretch>
        </p:blipFill>
        <p:spPr>
          <a:xfrm flipH="false" flipV="false" rot="0">
            <a:off x="1769040" y="5923065"/>
            <a:ext cx="4210747" cy="3992504"/>
          </a:xfrm>
          <a:prstGeom prst="rect">
            <a:avLst/>
          </a:prstGeom>
        </p:spPr>
      </p:pic>
      <p:sp>
        <p:nvSpPr>
          <p:cNvPr name="Freeform 6" id="6"/>
          <p:cNvSpPr/>
          <p:nvPr/>
        </p:nvSpPr>
        <p:spPr>
          <a:xfrm flipH="false" flipV="false" rot="0">
            <a:off x="2275256" y="842953"/>
            <a:ext cx="3198315" cy="1038050"/>
          </a:xfrm>
          <a:custGeom>
            <a:avLst/>
            <a:gdLst/>
            <a:ahLst/>
            <a:cxnLst/>
            <a:rect r="r" b="b" t="t" l="l"/>
            <a:pathLst>
              <a:path h="1038050" w="3198315">
                <a:moveTo>
                  <a:pt x="0" y="0"/>
                </a:moveTo>
                <a:lnTo>
                  <a:pt x="3198315" y="0"/>
                </a:lnTo>
                <a:lnTo>
                  <a:pt x="3198315" y="1038050"/>
                </a:lnTo>
                <a:lnTo>
                  <a:pt x="0" y="1038050"/>
                </a:lnTo>
                <a:lnTo>
                  <a:pt x="0" y="0"/>
                </a:lnTo>
                <a:close/>
              </a:path>
            </a:pathLst>
          </a:custGeom>
          <a:blipFill>
            <a:blip r:embed="rId15">
              <a:extLst>
                <a:ext uri="{96DAC541-7B7A-43D3-8B79-37D633B846F1}">
                  <asvg:svgBlip xmlns:asvg="http://schemas.microsoft.com/office/drawing/2016/SVG/main" r:embed="rId16"/>
                </a:ext>
              </a:extLst>
            </a:blip>
            <a:stretch>
              <a:fillRect l="0" t="0" r="-2218" b="-36857"/>
            </a:stretch>
          </a:blipFill>
        </p:spPr>
      </p:sp>
      <p:sp>
        <p:nvSpPr>
          <p:cNvPr name="Freeform 7" id="7"/>
          <p:cNvSpPr/>
          <p:nvPr/>
        </p:nvSpPr>
        <p:spPr>
          <a:xfrm flipH="false" flipV="false" rot="0">
            <a:off x="7653447" y="954914"/>
            <a:ext cx="3198315" cy="1038050"/>
          </a:xfrm>
          <a:custGeom>
            <a:avLst/>
            <a:gdLst/>
            <a:ahLst/>
            <a:cxnLst/>
            <a:rect r="r" b="b" t="t" l="l"/>
            <a:pathLst>
              <a:path h="1038050" w="3198315">
                <a:moveTo>
                  <a:pt x="0" y="0"/>
                </a:moveTo>
                <a:lnTo>
                  <a:pt x="3198315" y="0"/>
                </a:lnTo>
                <a:lnTo>
                  <a:pt x="3198315" y="1038050"/>
                </a:lnTo>
                <a:lnTo>
                  <a:pt x="0" y="1038050"/>
                </a:lnTo>
                <a:lnTo>
                  <a:pt x="0" y="0"/>
                </a:lnTo>
                <a:close/>
              </a:path>
            </a:pathLst>
          </a:custGeom>
          <a:blipFill>
            <a:blip r:embed="rId15">
              <a:extLst>
                <a:ext uri="{96DAC541-7B7A-43D3-8B79-37D633B846F1}">
                  <asvg:svgBlip xmlns:asvg="http://schemas.microsoft.com/office/drawing/2016/SVG/main" r:embed="rId16"/>
                </a:ext>
              </a:extLst>
            </a:blip>
            <a:stretch>
              <a:fillRect l="0" t="0" r="-2218" b="-36857"/>
            </a:stretch>
          </a:blipFill>
        </p:spPr>
      </p:sp>
      <p:sp>
        <p:nvSpPr>
          <p:cNvPr name="Freeform 8" id="8"/>
          <p:cNvSpPr/>
          <p:nvPr/>
        </p:nvSpPr>
        <p:spPr>
          <a:xfrm flipH="false" flipV="false" rot="0">
            <a:off x="13031639" y="842953"/>
            <a:ext cx="3198315" cy="1038050"/>
          </a:xfrm>
          <a:custGeom>
            <a:avLst/>
            <a:gdLst/>
            <a:ahLst/>
            <a:cxnLst/>
            <a:rect r="r" b="b" t="t" l="l"/>
            <a:pathLst>
              <a:path h="1038050" w="3198315">
                <a:moveTo>
                  <a:pt x="0" y="0"/>
                </a:moveTo>
                <a:lnTo>
                  <a:pt x="3198315" y="0"/>
                </a:lnTo>
                <a:lnTo>
                  <a:pt x="3198315" y="1038050"/>
                </a:lnTo>
                <a:lnTo>
                  <a:pt x="0" y="1038050"/>
                </a:lnTo>
                <a:lnTo>
                  <a:pt x="0" y="0"/>
                </a:lnTo>
                <a:close/>
              </a:path>
            </a:pathLst>
          </a:custGeom>
          <a:blipFill>
            <a:blip r:embed="rId15">
              <a:extLst>
                <a:ext uri="{96DAC541-7B7A-43D3-8B79-37D633B846F1}">
                  <asvg:svgBlip xmlns:asvg="http://schemas.microsoft.com/office/drawing/2016/SVG/main" r:embed="rId16"/>
                </a:ext>
              </a:extLst>
            </a:blip>
            <a:stretch>
              <a:fillRect l="0" t="0" r="-2218" b="-36857"/>
            </a:stretch>
          </a:blipFill>
        </p:spPr>
      </p:sp>
      <p:pic>
        <p:nvPicPr>
          <p:cNvPr name="Picture 9" id="9">
            <a:hlinkClick action="ppaction://media"/>
          </p:cNvPr>
          <p:cNvPicPr>
            <a:picLocks noChangeAspect="true"/>
          </p:cNvPicPr>
          <p:nvPr>
            <a:videoFile r:link="rId18"/>
            <p:extLst>
              <p:ext uri="{DAA4B4D4-6D71-4841-9C94-3DE7FCFB9230}">
                <p14:media xmlns:p14="http://schemas.microsoft.com/office/powerpoint/2010/main" r:embed="rId19"/>
              </p:ext>
            </p:extLst>
          </p:nvPr>
        </p:nvPicPr>
        <p:blipFill>
          <a:blip r:embed="rId17"/>
          <a:srcRect l="16449" t="0" r="13371" b="36298"/>
          <a:stretch>
            <a:fillRect/>
          </a:stretch>
        </p:blipFill>
        <p:spPr>
          <a:xfrm flipH="false" flipV="false" rot="0">
            <a:off x="12852520" y="1992964"/>
            <a:ext cx="3981553" cy="3614065"/>
          </a:xfrm>
          <a:prstGeom prst="rect">
            <a:avLst/>
          </a:prstGeom>
        </p:spPr>
      </p:pic>
      <p:pic>
        <p:nvPicPr>
          <p:cNvPr name="Picture 10" id="10">
            <a:hlinkClick action="ppaction://media"/>
          </p:cNvPr>
          <p:cNvPicPr>
            <a:picLocks noChangeAspect="true"/>
          </p:cNvPicPr>
          <p:nvPr>
            <a:videoFile r:link="rId21"/>
            <p:extLst>
              <p:ext uri="{DAA4B4D4-6D71-4841-9C94-3DE7FCFB9230}">
                <p14:media xmlns:p14="http://schemas.microsoft.com/office/powerpoint/2010/main" r:embed="rId22"/>
              </p:ext>
            </p:extLst>
          </p:nvPr>
        </p:nvPicPr>
        <p:blipFill>
          <a:blip r:embed="rId20"/>
          <a:srcRect l="16727" t="0" r="9607" b="31820"/>
          <a:stretch>
            <a:fillRect/>
          </a:stretch>
        </p:blipFill>
        <p:spPr>
          <a:xfrm flipH="false" flipV="false" rot="0">
            <a:off x="12852520" y="5923065"/>
            <a:ext cx="4219644" cy="3905465"/>
          </a:xfrm>
          <a:prstGeom prst="rect">
            <a:avLst/>
          </a:prstGeom>
        </p:spPr>
      </p:pic>
      <p:sp>
        <p:nvSpPr>
          <p:cNvPr name="TextBox 11" id="11"/>
          <p:cNvSpPr txBox="true"/>
          <p:nvPr/>
        </p:nvSpPr>
        <p:spPr>
          <a:xfrm rot="0">
            <a:off x="3373130" y="1122623"/>
            <a:ext cx="983456" cy="431086"/>
          </a:xfrm>
          <a:prstGeom prst="rect">
            <a:avLst/>
          </a:prstGeom>
        </p:spPr>
        <p:txBody>
          <a:bodyPr anchor="t" rtlCol="false" tIns="0" lIns="0" bIns="0" rIns="0">
            <a:spAutoFit/>
          </a:bodyPr>
          <a:lstStyle/>
          <a:p>
            <a:pPr algn="ctr">
              <a:lnSpc>
                <a:spcPts val="3539"/>
              </a:lnSpc>
              <a:spcBef>
                <a:spcPct val="0"/>
              </a:spcBef>
            </a:pPr>
            <a:r>
              <a:rPr lang="en-US" b="true" sz="2528">
                <a:solidFill>
                  <a:srgbClr val="FFFFFF"/>
                </a:solidFill>
                <a:latin typeface="Canva Sans Bold"/>
                <a:ea typeface="Canva Sans Bold"/>
                <a:cs typeface="Canva Sans Bold"/>
                <a:sym typeface="Canva Sans Bold"/>
              </a:rPr>
              <a:t>mBert</a:t>
            </a:r>
          </a:p>
        </p:txBody>
      </p:sp>
      <p:sp>
        <p:nvSpPr>
          <p:cNvPr name="TextBox 12" id="12"/>
          <p:cNvSpPr txBox="true"/>
          <p:nvPr/>
        </p:nvSpPr>
        <p:spPr>
          <a:xfrm rot="0">
            <a:off x="435158" y="3295798"/>
            <a:ext cx="933301" cy="355521"/>
          </a:xfrm>
          <a:prstGeom prst="rect">
            <a:avLst/>
          </a:prstGeom>
        </p:spPr>
        <p:txBody>
          <a:bodyPr anchor="t" rtlCol="false" tIns="0" lIns="0" bIns="0" rIns="0">
            <a:spAutoFit/>
          </a:bodyPr>
          <a:lstStyle/>
          <a:p>
            <a:pPr algn="ctr">
              <a:lnSpc>
                <a:spcPts val="2979"/>
              </a:lnSpc>
              <a:spcBef>
                <a:spcPct val="0"/>
              </a:spcBef>
            </a:pPr>
            <a:r>
              <a:rPr lang="en-US" sz="2128">
                <a:solidFill>
                  <a:srgbClr val="FFFFFF"/>
                </a:solidFill>
                <a:latin typeface="Canva Sans"/>
                <a:ea typeface="Canva Sans"/>
                <a:cs typeface="Canva Sans"/>
                <a:sym typeface="Canva Sans"/>
              </a:rPr>
              <a:t>English</a:t>
            </a:r>
          </a:p>
        </p:txBody>
      </p:sp>
      <p:sp>
        <p:nvSpPr>
          <p:cNvPr name="TextBox 13" id="13"/>
          <p:cNvSpPr txBox="true"/>
          <p:nvPr/>
        </p:nvSpPr>
        <p:spPr>
          <a:xfrm rot="0">
            <a:off x="326811" y="7736459"/>
            <a:ext cx="1041648" cy="355521"/>
          </a:xfrm>
          <a:prstGeom prst="rect">
            <a:avLst/>
          </a:prstGeom>
        </p:spPr>
        <p:txBody>
          <a:bodyPr anchor="t" rtlCol="false" tIns="0" lIns="0" bIns="0" rIns="0">
            <a:spAutoFit/>
          </a:bodyPr>
          <a:lstStyle/>
          <a:p>
            <a:pPr algn="ctr">
              <a:lnSpc>
                <a:spcPts val="2979"/>
              </a:lnSpc>
              <a:spcBef>
                <a:spcPct val="0"/>
              </a:spcBef>
            </a:pPr>
            <a:r>
              <a:rPr lang="en-US" sz="2128">
                <a:solidFill>
                  <a:srgbClr val="FFFFFF"/>
                </a:solidFill>
                <a:latin typeface="Canva Sans"/>
                <a:ea typeface="Canva Sans"/>
                <a:cs typeface="Canva Sans"/>
                <a:sym typeface="Canva Sans"/>
              </a:rPr>
              <a:t>Chinese</a:t>
            </a:r>
          </a:p>
        </p:txBody>
      </p:sp>
      <p:sp>
        <p:nvSpPr>
          <p:cNvPr name="TextBox 14" id="14"/>
          <p:cNvSpPr txBox="true"/>
          <p:nvPr/>
        </p:nvSpPr>
        <p:spPr>
          <a:xfrm rot="0">
            <a:off x="17531861" y="9380220"/>
            <a:ext cx="212229" cy="448310"/>
          </a:xfrm>
          <a:prstGeom prst="rect">
            <a:avLst/>
          </a:prstGeom>
        </p:spPr>
        <p:txBody>
          <a:bodyPr anchor="t" rtlCol="false" tIns="0" lIns="0" bIns="0" rIns="0">
            <a:spAutoFit/>
          </a:bodyPr>
          <a:lstStyle/>
          <a:p>
            <a:pPr algn="ctr">
              <a:lnSpc>
                <a:spcPts val="3640"/>
              </a:lnSpc>
            </a:pPr>
            <a:r>
              <a:rPr lang="en-US" sz="2600">
                <a:solidFill>
                  <a:srgbClr val="FFFFFF"/>
                </a:solidFill>
                <a:latin typeface="Canva Sans"/>
                <a:ea typeface="Canva Sans"/>
                <a:cs typeface="Canva Sans"/>
                <a:sym typeface="Canva Sans"/>
              </a:rPr>
              <a:t>9</a:t>
            </a:r>
          </a:p>
        </p:txBody>
      </p:sp>
      <p:sp>
        <p:nvSpPr>
          <p:cNvPr name="TextBox 15" id="15"/>
          <p:cNvSpPr txBox="true"/>
          <p:nvPr/>
        </p:nvSpPr>
        <p:spPr>
          <a:xfrm rot="0">
            <a:off x="6628904" y="141605"/>
            <a:ext cx="4126260" cy="887095"/>
          </a:xfrm>
          <a:prstGeom prst="rect">
            <a:avLst/>
          </a:prstGeom>
        </p:spPr>
        <p:txBody>
          <a:bodyPr anchor="t" rtlCol="false" tIns="0" lIns="0" bIns="0" rIns="0">
            <a:spAutoFit/>
          </a:bodyPr>
          <a:lstStyle/>
          <a:p>
            <a:pPr algn="ctr">
              <a:lnSpc>
                <a:spcPts val="7279"/>
              </a:lnSpc>
            </a:pPr>
            <a:r>
              <a:rPr lang="en-US" sz="5199" b="true">
                <a:solidFill>
                  <a:srgbClr val="FFFFFF"/>
                </a:solidFill>
                <a:latin typeface="Canva Sans Bold"/>
                <a:ea typeface="Canva Sans Bold"/>
                <a:cs typeface="Canva Sans Bold"/>
                <a:sym typeface="Canva Sans Bold"/>
              </a:rPr>
              <a:t>Visualization</a:t>
            </a:r>
          </a:p>
        </p:txBody>
      </p:sp>
      <p:sp>
        <p:nvSpPr>
          <p:cNvPr name="TextBox 16" id="16"/>
          <p:cNvSpPr txBox="true"/>
          <p:nvPr/>
        </p:nvSpPr>
        <p:spPr>
          <a:xfrm rot="0">
            <a:off x="8911416" y="1122623"/>
            <a:ext cx="682377" cy="431086"/>
          </a:xfrm>
          <a:prstGeom prst="rect">
            <a:avLst/>
          </a:prstGeom>
        </p:spPr>
        <p:txBody>
          <a:bodyPr anchor="t" rtlCol="false" tIns="0" lIns="0" bIns="0" rIns="0">
            <a:spAutoFit/>
          </a:bodyPr>
          <a:lstStyle/>
          <a:p>
            <a:pPr algn="ctr">
              <a:lnSpc>
                <a:spcPts val="3539"/>
              </a:lnSpc>
              <a:spcBef>
                <a:spcPct val="0"/>
              </a:spcBef>
            </a:pPr>
            <a:r>
              <a:rPr lang="en-US" b="true" sz="2528">
                <a:solidFill>
                  <a:srgbClr val="FFFFFF"/>
                </a:solidFill>
                <a:latin typeface="Canva Sans Bold"/>
                <a:ea typeface="Canva Sans Bold"/>
                <a:cs typeface="Canva Sans Bold"/>
                <a:sym typeface="Canva Sans Bold"/>
              </a:rPr>
              <a:t>mT5</a:t>
            </a:r>
          </a:p>
        </p:txBody>
      </p:sp>
      <p:sp>
        <p:nvSpPr>
          <p:cNvPr name="TextBox 17" id="17"/>
          <p:cNvSpPr txBox="true"/>
          <p:nvPr/>
        </p:nvSpPr>
        <p:spPr>
          <a:xfrm rot="0">
            <a:off x="14251817" y="1122623"/>
            <a:ext cx="1182960" cy="431086"/>
          </a:xfrm>
          <a:prstGeom prst="rect">
            <a:avLst/>
          </a:prstGeom>
        </p:spPr>
        <p:txBody>
          <a:bodyPr anchor="t" rtlCol="false" tIns="0" lIns="0" bIns="0" rIns="0">
            <a:spAutoFit/>
          </a:bodyPr>
          <a:lstStyle/>
          <a:p>
            <a:pPr algn="ctr">
              <a:lnSpc>
                <a:spcPts val="3539"/>
              </a:lnSpc>
              <a:spcBef>
                <a:spcPct val="0"/>
              </a:spcBef>
            </a:pPr>
            <a:r>
              <a:rPr lang="en-US" b="true" sz="2528">
                <a:solidFill>
                  <a:srgbClr val="FFFFFF"/>
                </a:solidFill>
                <a:latin typeface="Canva Sans Bold"/>
                <a:ea typeface="Canva Sans Bold"/>
                <a:cs typeface="Canva Sans Bold"/>
                <a:sym typeface="Canva Sans Bold"/>
              </a:rPr>
              <a:t>BiLSTM</a:t>
            </a:r>
          </a:p>
        </p:txBody>
      </p:sp>
    </p:spTree>
  </p:cSld>
  <p:clrMapOvr>
    <a:masterClrMapping/>
  </p:clrMapOvr>
  <p:timing>
    <p:tnLst>
      <p:par>
        <p:cTn dur="indefinite" restart="never" nodeType="tmRoot">
          <p:childTnLst>
            <p:video>
              <p:cMediaNode vol="0">
                <p:cTn fill="hold" display="false">
                  <p:stCondLst>
                    <p:cond delay="indefinite"/>
                  </p:stCondLst>
                </p:cTn>
                <p:tgtEl>
                  <p:spTgt spid="2"/>
                </p:tgtEl>
              </p:cMediaNode>
            </p:video>
            <p:video>
              <p:cMediaNode vol="0">
                <p:cTn fill="hold" display="false">
                  <p:stCondLst>
                    <p:cond delay="indefinite"/>
                  </p:stCondLst>
                </p:cTn>
                <p:tgtEl>
                  <p:spTgt spid="3"/>
                </p:tgtEl>
              </p:cMediaNode>
            </p:video>
            <p:video>
              <p:cMediaNode vol="0">
                <p:cTn fill="hold" display="false">
                  <p:stCondLst>
                    <p:cond delay="indefinite"/>
                  </p:stCondLst>
                </p:cTn>
                <p:tgtEl>
                  <p:spTgt spid="4"/>
                </p:tgtEl>
              </p:cMediaNode>
            </p:video>
            <p:video>
              <p:cMediaNode vol="0">
                <p:cTn fill="hold" display="false">
                  <p:stCondLst>
                    <p:cond delay="indefinite"/>
                  </p:stCondLst>
                </p:cTn>
                <p:tgtEl>
                  <p:spTgt spid="5"/>
                </p:tgtEl>
              </p:cMediaNode>
            </p:video>
            <p:video>
              <p:cMediaNode vol="0">
                <p:cTn fill="hold" display="false">
                  <p:stCondLst>
                    <p:cond delay="indefinite"/>
                  </p:stCondLst>
                </p:cTn>
                <p:tgtEl>
                  <p:spTgt spid="9"/>
                </p:tgtEl>
              </p:cMediaNode>
            </p:video>
            <p:video>
              <p:cMediaNode vol="0">
                <p:cTn fill="hold" display="false">
                  <p:stCondLst>
                    <p:cond delay="indefinite"/>
                  </p:stCondLst>
                </p:cTn>
                <p:tgtEl>
                  <p:spTgt spid="10"/>
                </p:tgtEl>
              </p:cMediaNode>
            </p:video>
          </p:childTnLst>
        </p:cTn>
      </p:par>
    </p:tnLst>
  </p:timing>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071846"/>
        </a:solidFill>
      </p:bgPr>
    </p:bg>
    <p:spTree>
      <p:nvGrpSpPr>
        <p:cNvPr id="1" name=""/>
        <p:cNvGrpSpPr/>
        <p:nvPr/>
      </p:nvGrpSpPr>
      <p:grpSpPr>
        <a:xfrm>
          <a:off x="0" y="0"/>
          <a:ext cx="0" cy="0"/>
          <a:chOff x="0" y="0"/>
          <a:chExt cx="0" cy="0"/>
        </a:xfrm>
      </p:grpSpPr>
      <p:graphicFrame>
        <p:nvGraphicFramePr>
          <p:cNvPr name="Object 2" id="2"/>
          <p:cNvGraphicFramePr/>
          <p:nvPr/>
        </p:nvGraphicFramePr>
        <p:xfrm>
          <a:off x="2205779" y="2659515"/>
          <a:ext cx="14020920" cy="6870038"/>
        </p:xfrm>
        <a:graphic>
          <a:graphicData uri="http://schemas.openxmlformats.org/presentationml/2006/ole">
            <p:oleObj imgW="16814800" imgH="9677400" r:id="rId4" progId="Excel.Sheet.12" name="Worksheet">
              <p:embed/>
              <p:pic>
                <p:nvPicPr>
                  <p:cNvPr name="" id="0"/>
                  <p:cNvPicPr/>
                  <p:nvPr/>
                </p:nvPicPr>
                <p:blipFill>
                  <a:blip r:embed="rId3"/>
                  <a:stretch>
                    <a:fillRect/>
                  </a:stretch>
                </p:blipFill>
                <p:spPr>
                  <a:xfrm>
                    <a:off x="1270000" y="1270000"/>
                    <a:ext cx="1270000" cy="1270000"/>
                  </a:xfrm>
                  <a:prstGeom prst="rect"/>
                </p:spPr>
              </p:pic>
            </p:oleObj>
          </a:graphicData>
        </a:graphic>
      </p:graphicFrame>
      <p:sp>
        <p:nvSpPr>
          <p:cNvPr name="TextBox 3" id="3"/>
          <p:cNvSpPr txBox="true"/>
          <p:nvPr/>
        </p:nvSpPr>
        <p:spPr>
          <a:xfrm rot="0">
            <a:off x="2723366" y="930679"/>
            <a:ext cx="14535934" cy="1038244"/>
          </a:xfrm>
          <a:prstGeom prst="rect">
            <a:avLst/>
          </a:prstGeom>
        </p:spPr>
        <p:txBody>
          <a:bodyPr anchor="t" rtlCol="false" tIns="0" lIns="0" bIns="0" rIns="0">
            <a:spAutoFit/>
          </a:bodyPr>
          <a:lstStyle/>
          <a:p>
            <a:pPr algn="l">
              <a:lnSpc>
                <a:spcPts val="7695"/>
              </a:lnSpc>
            </a:pPr>
            <a:r>
              <a:rPr lang="en-US" sz="8100">
                <a:solidFill>
                  <a:srgbClr val="FFFFFF"/>
                </a:solidFill>
                <a:latin typeface="Canva Sans"/>
                <a:ea typeface="Canva Sans"/>
                <a:cs typeface="Canva Sans"/>
                <a:sym typeface="Canva Sans"/>
              </a:rPr>
              <a:t>Quantitative Metrics</a:t>
            </a:r>
          </a:p>
        </p:txBody>
      </p:sp>
      <p:sp>
        <p:nvSpPr>
          <p:cNvPr name="Freeform 4" id="4"/>
          <p:cNvSpPr/>
          <p:nvPr/>
        </p:nvSpPr>
        <p:spPr>
          <a:xfrm flipH="false" flipV="false" rot="0">
            <a:off x="-7242403" y="247"/>
            <a:ext cx="8526125" cy="8708530"/>
          </a:xfrm>
          <a:custGeom>
            <a:avLst/>
            <a:gdLst/>
            <a:ahLst/>
            <a:cxnLst/>
            <a:rect r="r" b="b" t="t" l="l"/>
            <a:pathLst>
              <a:path h="8708530" w="8526125">
                <a:moveTo>
                  <a:pt x="0" y="0"/>
                </a:moveTo>
                <a:lnTo>
                  <a:pt x="8526126" y="0"/>
                </a:lnTo>
                <a:lnTo>
                  <a:pt x="8526126" y="8708530"/>
                </a:lnTo>
                <a:lnTo>
                  <a:pt x="0" y="870853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false" rot="0">
            <a:off x="-7136762" y="121474"/>
            <a:ext cx="8526125" cy="8708530"/>
          </a:xfrm>
          <a:custGeom>
            <a:avLst/>
            <a:gdLst/>
            <a:ahLst/>
            <a:cxnLst/>
            <a:rect r="r" b="b" t="t" l="l"/>
            <a:pathLst>
              <a:path h="8708530" w="8526125">
                <a:moveTo>
                  <a:pt x="0" y="0"/>
                </a:moveTo>
                <a:lnTo>
                  <a:pt x="8526125" y="0"/>
                </a:lnTo>
                <a:lnTo>
                  <a:pt x="8526125" y="8708530"/>
                </a:lnTo>
                <a:lnTo>
                  <a:pt x="0" y="870853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0">
            <a:off x="15710736" y="5143500"/>
            <a:ext cx="9300522" cy="9265072"/>
          </a:xfrm>
          <a:custGeom>
            <a:avLst/>
            <a:gdLst/>
            <a:ahLst/>
            <a:cxnLst/>
            <a:rect r="r" b="b" t="t" l="l"/>
            <a:pathLst>
              <a:path h="9265072" w="9300522">
                <a:moveTo>
                  <a:pt x="0" y="0"/>
                </a:moveTo>
                <a:lnTo>
                  <a:pt x="9300522" y="0"/>
                </a:lnTo>
                <a:lnTo>
                  <a:pt x="9300522" y="9265072"/>
                </a:lnTo>
                <a:lnTo>
                  <a:pt x="0" y="9265072"/>
                </a:lnTo>
                <a:lnTo>
                  <a:pt x="0" y="0"/>
                </a:lnTo>
                <a:close/>
              </a:path>
            </a:pathLst>
          </a:custGeom>
          <a:blipFill>
            <a:blip r:embed="rId7">
              <a:alphaModFix amt="46000"/>
              <a:extLst>
                <a:ext uri="{96DAC541-7B7A-43D3-8B79-37D633B846F1}">
                  <asvg:svgBlip xmlns:asvg="http://schemas.microsoft.com/office/drawing/2016/SVG/main" r:embed="rId8"/>
                </a:ext>
              </a:extLst>
            </a:blip>
            <a:stretch>
              <a:fillRect l="0" t="0" r="0" b="0"/>
            </a:stretch>
          </a:blipFill>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071846"/>
        </a:solidFill>
      </p:bgPr>
    </p:bg>
    <p:spTree>
      <p:nvGrpSpPr>
        <p:cNvPr id="1" name=""/>
        <p:cNvGrpSpPr/>
        <p:nvPr/>
      </p:nvGrpSpPr>
      <p:grpSpPr>
        <a:xfrm>
          <a:off x="0" y="0"/>
          <a:ext cx="0" cy="0"/>
          <a:chOff x="0" y="0"/>
          <a:chExt cx="0" cy="0"/>
        </a:xfrm>
      </p:grpSpPr>
      <p:sp>
        <p:nvSpPr>
          <p:cNvPr name="Freeform 2" id="2"/>
          <p:cNvSpPr/>
          <p:nvPr/>
        </p:nvSpPr>
        <p:spPr>
          <a:xfrm flipH="false" flipV="false" rot="0">
            <a:off x="13911932" y="4889048"/>
            <a:ext cx="5813192" cy="5548956"/>
          </a:xfrm>
          <a:custGeom>
            <a:avLst/>
            <a:gdLst/>
            <a:ahLst/>
            <a:cxnLst/>
            <a:rect r="r" b="b" t="t" l="l"/>
            <a:pathLst>
              <a:path h="5548956" w="5813192">
                <a:moveTo>
                  <a:pt x="0" y="0"/>
                </a:moveTo>
                <a:lnTo>
                  <a:pt x="5813192" y="0"/>
                </a:lnTo>
                <a:lnTo>
                  <a:pt x="5813192" y="5548956"/>
                </a:lnTo>
                <a:lnTo>
                  <a:pt x="0" y="5548956"/>
                </a:lnTo>
                <a:lnTo>
                  <a:pt x="0" y="0"/>
                </a:lnTo>
                <a:close/>
              </a:path>
            </a:pathLst>
          </a:custGeom>
          <a:blipFill>
            <a:blip r:embed="rId3">
              <a:alphaModFix amt="38000"/>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true" flipV="true" rot="0">
            <a:off x="12474808" y="-1204875"/>
            <a:ext cx="5286493" cy="5286493"/>
          </a:xfrm>
          <a:custGeom>
            <a:avLst/>
            <a:gdLst/>
            <a:ahLst/>
            <a:cxnLst/>
            <a:rect r="r" b="b" t="t" l="l"/>
            <a:pathLst>
              <a:path h="5286493" w="5286493">
                <a:moveTo>
                  <a:pt x="5286493" y="5286493"/>
                </a:moveTo>
                <a:lnTo>
                  <a:pt x="0" y="5286493"/>
                </a:lnTo>
                <a:lnTo>
                  <a:pt x="0" y="0"/>
                </a:lnTo>
                <a:lnTo>
                  <a:pt x="5286493" y="0"/>
                </a:lnTo>
                <a:lnTo>
                  <a:pt x="5286493" y="5286493"/>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4" id="4"/>
          <p:cNvSpPr/>
          <p:nvPr/>
        </p:nvSpPr>
        <p:spPr>
          <a:xfrm flipH="false" flipV="false" rot="0">
            <a:off x="-5560469" y="-5135454"/>
            <a:ext cx="11563441" cy="11563441"/>
          </a:xfrm>
          <a:custGeom>
            <a:avLst/>
            <a:gdLst/>
            <a:ahLst/>
            <a:cxnLst/>
            <a:rect r="r" b="b" t="t" l="l"/>
            <a:pathLst>
              <a:path h="11563441" w="11563441">
                <a:moveTo>
                  <a:pt x="0" y="0"/>
                </a:moveTo>
                <a:lnTo>
                  <a:pt x="11563442" y="0"/>
                </a:lnTo>
                <a:lnTo>
                  <a:pt x="11563442" y="11563442"/>
                </a:lnTo>
                <a:lnTo>
                  <a:pt x="0" y="11563442"/>
                </a:lnTo>
                <a:lnTo>
                  <a:pt x="0" y="0"/>
                </a:lnTo>
                <a:close/>
              </a:path>
            </a:pathLst>
          </a:custGeom>
          <a:blipFill>
            <a:blip r:embed="rId7">
              <a:alphaModFix amt="50000"/>
              <a:extLst>
                <a:ext uri="{96DAC541-7B7A-43D3-8B79-37D633B846F1}">
                  <asvg:svgBlip xmlns:asvg="http://schemas.microsoft.com/office/drawing/2016/SVG/main" r:embed="rId8"/>
                </a:ext>
              </a:extLst>
            </a:blip>
            <a:stretch>
              <a:fillRect l="0" t="0" r="0" b="0"/>
            </a:stretch>
          </a:blipFill>
        </p:spPr>
      </p:sp>
      <p:sp>
        <p:nvSpPr>
          <p:cNvPr name="TextBox 5" id="5"/>
          <p:cNvSpPr txBox="true"/>
          <p:nvPr/>
        </p:nvSpPr>
        <p:spPr>
          <a:xfrm rot="0">
            <a:off x="1028700" y="2745022"/>
            <a:ext cx="11970928" cy="7118317"/>
          </a:xfrm>
          <a:prstGeom prst="rect">
            <a:avLst/>
          </a:prstGeom>
        </p:spPr>
        <p:txBody>
          <a:bodyPr anchor="t" rtlCol="false" tIns="0" lIns="0" bIns="0" rIns="0">
            <a:spAutoFit/>
          </a:bodyPr>
          <a:lstStyle/>
          <a:p>
            <a:pPr algn="l">
              <a:lnSpc>
                <a:spcPts val="2782"/>
              </a:lnSpc>
            </a:pPr>
            <a:r>
              <a:rPr lang="en-US" sz="1987">
                <a:solidFill>
                  <a:srgbClr val="FFFFFF"/>
                </a:solidFill>
                <a:latin typeface="Canva Sans"/>
                <a:ea typeface="Canva Sans"/>
                <a:cs typeface="Canva Sans"/>
                <a:sym typeface="Canva Sans"/>
              </a:rPr>
              <a:t>To achieve true cross-lingual motion generation, we must shift from English-centric architectures to multilingual models like mT5 and mBERT. Ultimately, the field must evolve its evaluation standards to prioritize linguistic diversity and real-world robustness over standard English benchmarks.</a:t>
            </a:r>
          </a:p>
          <a:p>
            <a:pPr algn="l">
              <a:lnSpc>
                <a:spcPts val="2782"/>
              </a:lnSpc>
            </a:pPr>
          </a:p>
          <a:p>
            <a:pPr algn="l">
              <a:lnSpc>
                <a:spcPts val="2782"/>
              </a:lnSpc>
            </a:pPr>
          </a:p>
          <a:p>
            <a:pPr algn="l">
              <a:lnSpc>
                <a:spcPts val="2782"/>
              </a:lnSpc>
            </a:pPr>
            <a:r>
              <a:rPr lang="en-US" sz="1987">
                <a:solidFill>
                  <a:srgbClr val="FFFFFF"/>
                </a:solidFill>
                <a:latin typeface="Canva Sans"/>
                <a:ea typeface="Canva Sans"/>
                <a:cs typeface="Canva Sans"/>
                <a:sym typeface="Canva Sans"/>
              </a:rPr>
              <a:t>Team Contributions:</a:t>
            </a:r>
          </a:p>
          <a:p>
            <a:pPr algn="l">
              <a:lnSpc>
                <a:spcPts val="2642"/>
              </a:lnSpc>
            </a:pPr>
          </a:p>
          <a:p>
            <a:pPr algn="l">
              <a:lnSpc>
                <a:spcPts val="2642"/>
              </a:lnSpc>
            </a:pPr>
            <a:r>
              <a:rPr lang="en-US" sz="1887">
                <a:solidFill>
                  <a:srgbClr val="FFFFFF"/>
                </a:solidFill>
                <a:latin typeface="Canva Sans"/>
                <a:ea typeface="Canva Sans"/>
                <a:cs typeface="Canva Sans"/>
                <a:sym typeface="Canva Sans"/>
              </a:rPr>
              <a:t>Angie Song (as620): BILSTM fine-tuning and quantitative evaluation.</a:t>
            </a:r>
          </a:p>
          <a:p>
            <a:pPr algn="l">
              <a:lnSpc>
                <a:spcPts val="2642"/>
              </a:lnSpc>
            </a:pPr>
          </a:p>
          <a:p>
            <a:pPr algn="l">
              <a:lnSpc>
                <a:spcPts val="2642"/>
              </a:lnSpc>
            </a:pPr>
          </a:p>
          <a:p>
            <a:pPr algn="l">
              <a:lnSpc>
                <a:spcPts val="2642"/>
              </a:lnSpc>
            </a:pPr>
            <a:r>
              <a:rPr lang="en-US" sz="1887">
                <a:solidFill>
                  <a:srgbClr val="FFFFFF"/>
                </a:solidFill>
                <a:latin typeface="Canva Sans"/>
                <a:ea typeface="Canva Sans"/>
                <a:cs typeface="Canva Sans"/>
                <a:sym typeface="Canva Sans"/>
              </a:rPr>
              <a:t>Serena (Xin) You (xy68): mBERT fine-tuning and quantitative evaluation.</a:t>
            </a:r>
          </a:p>
          <a:p>
            <a:pPr algn="l">
              <a:lnSpc>
                <a:spcPts val="2642"/>
              </a:lnSpc>
            </a:pPr>
          </a:p>
          <a:p>
            <a:pPr algn="l">
              <a:lnSpc>
                <a:spcPts val="2642"/>
              </a:lnSpc>
            </a:pPr>
          </a:p>
          <a:p>
            <a:pPr algn="l">
              <a:lnSpc>
                <a:spcPts val="2642"/>
              </a:lnSpc>
            </a:pPr>
            <a:r>
              <a:rPr lang="en-US" sz="1887">
                <a:solidFill>
                  <a:srgbClr val="FFFFFF"/>
                </a:solidFill>
                <a:latin typeface="Canva Sans"/>
                <a:ea typeface="Canva Sans"/>
                <a:cs typeface="Canva Sans"/>
                <a:sym typeface="Canva Sans"/>
              </a:rPr>
              <a:t>Shizuka Dara (sd205): mT5 fine-tuning and quantitative evaluation.</a:t>
            </a:r>
          </a:p>
          <a:p>
            <a:pPr algn="l">
              <a:lnSpc>
                <a:spcPts val="2642"/>
              </a:lnSpc>
            </a:pPr>
          </a:p>
          <a:p>
            <a:pPr algn="l">
              <a:lnSpc>
                <a:spcPts val="2642"/>
              </a:lnSpc>
            </a:pPr>
          </a:p>
          <a:p>
            <a:pPr algn="l">
              <a:lnSpc>
                <a:spcPts val="2642"/>
              </a:lnSpc>
            </a:pPr>
            <a:r>
              <a:rPr lang="en-US" sz="1887">
                <a:solidFill>
                  <a:srgbClr val="FFFFFF"/>
                </a:solidFill>
                <a:latin typeface="Canva Sans"/>
                <a:ea typeface="Canva Sans"/>
                <a:cs typeface="Canva Sans"/>
                <a:sym typeface="Canva Sans"/>
              </a:rPr>
              <a:t>Tanishka Sonar (ts158): Visualization and human evaluation.</a:t>
            </a:r>
          </a:p>
          <a:p>
            <a:pPr algn="l">
              <a:lnSpc>
                <a:spcPts val="2642"/>
              </a:lnSpc>
            </a:pPr>
          </a:p>
          <a:p>
            <a:pPr algn="l">
              <a:lnSpc>
                <a:spcPts val="2642"/>
              </a:lnSpc>
            </a:pPr>
          </a:p>
          <a:p>
            <a:pPr algn="l">
              <a:lnSpc>
                <a:spcPts val="2642"/>
              </a:lnSpc>
            </a:pPr>
          </a:p>
        </p:txBody>
      </p:sp>
      <p:sp>
        <p:nvSpPr>
          <p:cNvPr name="Freeform 6" id="6"/>
          <p:cNvSpPr/>
          <p:nvPr/>
        </p:nvSpPr>
        <p:spPr>
          <a:xfrm flipH="false" flipV="false" rot="0">
            <a:off x="14730519" y="1749008"/>
            <a:ext cx="9357959" cy="9357959"/>
          </a:xfrm>
          <a:custGeom>
            <a:avLst/>
            <a:gdLst/>
            <a:ahLst/>
            <a:cxnLst/>
            <a:rect r="r" b="b" t="t" l="l"/>
            <a:pathLst>
              <a:path h="9357959" w="9357959">
                <a:moveTo>
                  <a:pt x="0" y="0"/>
                </a:moveTo>
                <a:lnTo>
                  <a:pt x="9357959" y="0"/>
                </a:lnTo>
                <a:lnTo>
                  <a:pt x="9357959" y="9357960"/>
                </a:lnTo>
                <a:lnTo>
                  <a:pt x="0" y="9357960"/>
                </a:lnTo>
                <a:lnTo>
                  <a:pt x="0" y="0"/>
                </a:lnTo>
                <a:close/>
              </a:path>
            </a:pathLst>
          </a:custGeom>
          <a:blipFill>
            <a:blip r:embed="rId7">
              <a:alphaModFix amt="31000"/>
              <a:extLst>
                <a:ext uri="{96DAC541-7B7A-43D3-8B79-37D633B846F1}">
                  <asvg:svgBlip xmlns:asvg="http://schemas.microsoft.com/office/drawing/2016/SVG/main" r:embed="rId8"/>
                </a:ext>
              </a:extLst>
            </a:blip>
            <a:stretch>
              <a:fillRect l="0" t="0" r="0" b="0"/>
            </a:stretch>
          </a:blipFill>
        </p:spPr>
      </p:sp>
      <p:sp>
        <p:nvSpPr>
          <p:cNvPr name="TextBox 7" id="7"/>
          <p:cNvSpPr txBox="true"/>
          <p:nvPr/>
        </p:nvSpPr>
        <p:spPr>
          <a:xfrm rot="0">
            <a:off x="1028700" y="827242"/>
            <a:ext cx="13564522" cy="1825649"/>
          </a:xfrm>
          <a:prstGeom prst="rect">
            <a:avLst/>
          </a:prstGeom>
        </p:spPr>
        <p:txBody>
          <a:bodyPr anchor="t" rtlCol="false" tIns="0" lIns="0" bIns="0" rIns="0">
            <a:spAutoFit/>
          </a:bodyPr>
          <a:lstStyle/>
          <a:p>
            <a:pPr algn="l">
              <a:lnSpc>
                <a:spcPts val="7030"/>
              </a:lnSpc>
            </a:pPr>
            <a:r>
              <a:rPr lang="en-US" sz="7400">
                <a:solidFill>
                  <a:srgbClr val="FFFFFF"/>
                </a:solidFill>
                <a:latin typeface="Canva Sans"/>
                <a:ea typeface="Canva Sans"/>
                <a:cs typeface="Canva Sans"/>
                <a:sym typeface="Canva Sans"/>
              </a:rPr>
              <a:t>Conclusion and </a:t>
            </a:r>
          </a:p>
          <a:p>
            <a:pPr algn="l">
              <a:lnSpc>
                <a:spcPts val="7030"/>
              </a:lnSpc>
            </a:pPr>
            <a:r>
              <a:rPr lang="en-US" sz="7400">
                <a:solidFill>
                  <a:srgbClr val="FFFFFF"/>
                </a:solidFill>
                <a:latin typeface="Canva Sans"/>
                <a:ea typeface="Canva Sans"/>
                <a:cs typeface="Canva Sans"/>
                <a:sym typeface="Canva Sans"/>
              </a:rPr>
              <a:t>Team Contributions</a:t>
            </a:r>
          </a:p>
        </p:txBody>
      </p:sp>
      <p:sp>
        <p:nvSpPr>
          <p:cNvPr name="TextBox 8" id="8"/>
          <p:cNvSpPr txBox="true"/>
          <p:nvPr/>
        </p:nvSpPr>
        <p:spPr>
          <a:xfrm rot="0">
            <a:off x="17437206" y="9380220"/>
            <a:ext cx="401538" cy="448310"/>
          </a:xfrm>
          <a:prstGeom prst="rect">
            <a:avLst/>
          </a:prstGeom>
        </p:spPr>
        <p:txBody>
          <a:bodyPr anchor="t" rtlCol="false" tIns="0" lIns="0" bIns="0" rIns="0">
            <a:spAutoFit/>
          </a:bodyPr>
          <a:lstStyle/>
          <a:p>
            <a:pPr algn="ctr">
              <a:lnSpc>
                <a:spcPts val="3640"/>
              </a:lnSpc>
            </a:pPr>
            <a:r>
              <a:rPr lang="en-US" sz="2600">
                <a:solidFill>
                  <a:srgbClr val="FFFFFF"/>
                </a:solidFill>
                <a:latin typeface="Canva Sans"/>
                <a:ea typeface="Canva Sans"/>
                <a:cs typeface="Canva Sans"/>
                <a:sym typeface="Canva Sans"/>
              </a:rPr>
              <a:t>10</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071846"/>
        </a:solidFill>
      </p:bgPr>
    </p:bg>
    <p:spTree>
      <p:nvGrpSpPr>
        <p:cNvPr id="1" name=""/>
        <p:cNvGrpSpPr/>
        <p:nvPr/>
      </p:nvGrpSpPr>
      <p:grpSpPr>
        <a:xfrm>
          <a:off x="0" y="0"/>
          <a:ext cx="0" cy="0"/>
          <a:chOff x="0" y="0"/>
          <a:chExt cx="0" cy="0"/>
        </a:xfrm>
      </p:grpSpPr>
      <p:sp>
        <p:nvSpPr>
          <p:cNvPr name="Freeform 2" id="2"/>
          <p:cNvSpPr/>
          <p:nvPr/>
        </p:nvSpPr>
        <p:spPr>
          <a:xfrm flipH="false" flipV="false" rot="0">
            <a:off x="-1452566" y="474363"/>
            <a:ext cx="11563441" cy="11563441"/>
          </a:xfrm>
          <a:custGeom>
            <a:avLst/>
            <a:gdLst/>
            <a:ahLst/>
            <a:cxnLst/>
            <a:rect r="r" b="b" t="t" l="l"/>
            <a:pathLst>
              <a:path h="11563441" w="11563441">
                <a:moveTo>
                  <a:pt x="0" y="0"/>
                </a:moveTo>
                <a:lnTo>
                  <a:pt x="11563442" y="0"/>
                </a:lnTo>
                <a:lnTo>
                  <a:pt x="11563442" y="11563442"/>
                </a:lnTo>
                <a:lnTo>
                  <a:pt x="0" y="11563442"/>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3709951" y="-3529330"/>
            <a:ext cx="11563441" cy="11563441"/>
          </a:xfrm>
          <a:custGeom>
            <a:avLst/>
            <a:gdLst/>
            <a:ahLst/>
            <a:cxnLst/>
            <a:rect r="r" b="b" t="t" l="l"/>
            <a:pathLst>
              <a:path h="11563441" w="11563441">
                <a:moveTo>
                  <a:pt x="0" y="0"/>
                </a:moveTo>
                <a:lnTo>
                  <a:pt x="11563441" y="0"/>
                </a:lnTo>
                <a:lnTo>
                  <a:pt x="11563441" y="11563442"/>
                </a:lnTo>
                <a:lnTo>
                  <a:pt x="0" y="11563442"/>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3637739" y="172298"/>
            <a:ext cx="9300522" cy="9265072"/>
          </a:xfrm>
          <a:custGeom>
            <a:avLst/>
            <a:gdLst/>
            <a:ahLst/>
            <a:cxnLst/>
            <a:rect r="r" b="b" t="t" l="l"/>
            <a:pathLst>
              <a:path h="9265072" w="9300522">
                <a:moveTo>
                  <a:pt x="0" y="0"/>
                </a:moveTo>
                <a:lnTo>
                  <a:pt x="9300522" y="0"/>
                </a:lnTo>
                <a:lnTo>
                  <a:pt x="9300522" y="9265072"/>
                </a:lnTo>
                <a:lnTo>
                  <a:pt x="0" y="9265072"/>
                </a:lnTo>
                <a:lnTo>
                  <a:pt x="0" y="0"/>
                </a:lnTo>
                <a:close/>
              </a:path>
            </a:pathLst>
          </a:custGeom>
          <a:blipFill>
            <a:blip r:embed="rId4">
              <a:alphaModFix amt="17000"/>
              <a:extLst>
                <a:ext uri="{96DAC541-7B7A-43D3-8B79-37D633B846F1}">
                  <asvg:svgBlip xmlns:asvg="http://schemas.microsoft.com/office/drawing/2016/SVG/main" r:embed="rId5"/>
                </a:ext>
              </a:extLst>
            </a:blip>
            <a:stretch>
              <a:fillRect l="0" t="0" r="0" b="0"/>
            </a:stretch>
          </a:blipFill>
        </p:spPr>
      </p:sp>
      <p:sp>
        <p:nvSpPr>
          <p:cNvPr name="TextBox 5" id="5"/>
          <p:cNvSpPr txBox="true"/>
          <p:nvPr/>
        </p:nvSpPr>
        <p:spPr>
          <a:xfrm rot="0">
            <a:off x="1391982" y="836480"/>
            <a:ext cx="7275653" cy="1016679"/>
          </a:xfrm>
          <a:prstGeom prst="rect">
            <a:avLst/>
          </a:prstGeom>
        </p:spPr>
        <p:txBody>
          <a:bodyPr anchor="t" rtlCol="false" tIns="0" lIns="0" bIns="0" rIns="0">
            <a:spAutoFit/>
          </a:bodyPr>
          <a:lstStyle/>
          <a:p>
            <a:pPr algn="l">
              <a:lnSpc>
                <a:spcPts val="7620"/>
              </a:lnSpc>
            </a:pPr>
            <a:r>
              <a:rPr lang="en-US" sz="8021">
                <a:solidFill>
                  <a:srgbClr val="FFFFFF"/>
                </a:solidFill>
                <a:latin typeface="Canva Sans"/>
                <a:ea typeface="Canva Sans"/>
                <a:cs typeface="Canva Sans"/>
                <a:sym typeface="Canva Sans"/>
              </a:rPr>
              <a:t>References</a:t>
            </a:r>
          </a:p>
        </p:txBody>
      </p:sp>
      <p:sp>
        <p:nvSpPr>
          <p:cNvPr name="TextBox 6" id="6"/>
          <p:cNvSpPr txBox="true"/>
          <p:nvPr/>
        </p:nvSpPr>
        <p:spPr>
          <a:xfrm rot="0">
            <a:off x="17542130" y="9380220"/>
            <a:ext cx="191691" cy="448310"/>
          </a:xfrm>
          <a:prstGeom prst="rect">
            <a:avLst/>
          </a:prstGeom>
        </p:spPr>
        <p:txBody>
          <a:bodyPr anchor="t" rtlCol="false" tIns="0" lIns="0" bIns="0" rIns="0">
            <a:spAutoFit/>
          </a:bodyPr>
          <a:lstStyle/>
          <a:p>
            <a:pPr algn="ctr">
              <a:lnSpc>
                <a:spcPts val="3640"/>
              </a:lnSpc>
            </a:pPr>
            <a:r>
              <a:rPr lang="en-US" sz="2600">
                <a:solidFill>
                  <a:srgbClr val="FFFFFF"/>
                </a:solidFill>
                <a:latin typeface="Canva Sans"/>
                <a:ea typeface="Canva Sans"/>
                <a:cs typeface="Canva Sans"/>
                <a:sym typeface="Canva Sans"/>
              </a:rPr>
              <a:t>3</a:t>
            </a:r>
          </a:p>
        </p:txBody>
      </p:sp>
      <p:sp>
        <p:nvSpPr>
          <p:cNvPr name="Freeform 7" id="7"/>
          <p:cNvSpPr/>
          <p:nvPr/>
        </p:nvSpPr>
        <p:spPr>
          <a:xfrm flipH="false" flipV="false" rot="0">
            <a:off x="-5661745" y="5936808"/>
            <a:ext cx="9300522" cy="9265072"/>
          </a:xfrm>
          <a:custGeom>
            <a:avLst/>
            <a:gdLst/>
            <a:ahLst/>
            <a:cxnLst/>
            <a:rect r="r" b="b" t="t" l="l"/>
            <a:pathLst>
              <a:path h="9265072" w="9300522">
                <a:moveTo>
                  <a:pt x="0" y="0"/>
                </a:moveTo>
                <a:lnTo>
                  <a:pt x="9300522" y="0"/>
                </a:lnTo>
                <a:lnTo>
                  <a:pt x="9300522" y="9265073"/>
                </a:lnTo>
                <a:lnTo>
                  <a:pt x="0" y="9265073"/>
                </a:lnTo>
                <a:lnTo>
                  <a:pt x="0" y="0"/>
                </a:lnTo>
                <a:close/>
              </a:path>
            </a:pathLst>
          </a:custGeom>
          <a:blipFill>
            <a:blip r:embed="rId4">
              <a:alphaModFix amt="32999"/>
              <a:extLst>
                <a:ext uri="{96DAC541-7B7A-43D3-8B79-37D633B846F1}">
                  <asvg:svgBlip xmlns:asvg="http://schemas.microsoft.com/office/drawing/2016/SVG/main" r:embed="rId5"/>
                </a:ext>
              </a:extLst>
            </a:blip>
            <a:stretch>
              <a:fillRect l="0" t="0" r="0" b="0"/>
            </a:stretch>
          </a:blipFill>
        </p:spPr>
      </p:sp>
      <p:sp>
        <p:nvSpPr>
          <p:cNvPr name="TextBox 8" id="8"/>
          <p:cNvSpPr txBox="true"/>
          <p:nvPr/>
        </p:nvSpPr>
        <p:spPr>
          <a:xfrm rot="0">
            <a:off x="1028700" y="2204766"/>
            <a:ext cx="15560377" cy="7167524"/>
          </a:xfrm>
          <a:prstGeom prst="rect">
            <a:avLst/>
          </a:prstGeom>
        </p:spPr>
        <p:txBody>
          <a:bodyPr anchor="t" rtlCol="false" tIns="0" lIns="0" bIns="0" rIns="0">
            <a:spAutoFit/>
          </a:bodyPr>
          <a:lstStyle/>
          <a:p>
            <a:pPr algn="l">
              <a:lnSpc>
                <a:spcPts val="2858"/>
              </a:lnSpc>
            </a:pPr>
          </a:p>
          <a:p>
            <a:pPr algn="l" marL="440859" indent="-220429" lvl="1">
              <a:lnSpc>
                <a:spcPts val="2858"/>
              </a:lnSpc>
              <a:buFont typeface="Arial"/>
              <a:buChar char="•"/>
            </a:pPr>
            <a:r>
              <a:rPr lang="en-US" sz="2041">
                <a:solidFill>
                  <a:srgbClr val="FFFFFF"/>
                </a:solidFill>
                <a:latin typeface="Canva Sans"/>
                <a:ea typeface="Canva Sans"/>
                <a:cs typeface="Canva Sans"/>
                <a:sym typeface="Canva Sans"/>
              </a:rPr>
              <a:t>Zhang, J., Zhang, Y., Cun, X., Huang, S., Zhang, Y., Zhao, H., Lu, H., &amp; Shen, X. (2023). T2M-GPT: Generating Human Motion from Textual Descriptions with Discrete Representations. Proceedings of the IEEE/CVF Conference on Computer Vision and Pattern Recognition (CVPR), 17564–17574.</a:t>
            </a:r>
          </a:p>
          <a:p>
            <a:pPr algn="l">
              <a:lnSpc>
                <a:spcPts val="2858"/>
              </a:lnSpc>
            </a:pPr>
          </a:p>
          <a:p>
            <a:pPr algn="l" marL="440859" indent="-220429" lvl="1">
              <a:lnSpc>
                <a:spcPts val="2858"/>
              </a:lnSpc>
              <a:buFont typeface="Arial"/>
              <a:buChar char="•"/>
            </a:pPr>
            <a:r>
              <a:rPr lang="en-US" sz="2041">
                <a:solidFill>
                  <a:srgbClr val="FFFFFF"/>
                </a:solidFill>
                <a:latin typeface="Canva Sans"/>
                <a:ea typeface="Canva Sans"/>
                <a:cs typeface="Canva Sans"/>
                <a:sym typeface="Canva Sans"/>
              </a:rPr>
              <a:t>Guo, C., Zou, S., Zuo, X., Wang, S., Ji, W., Li, X., &amp; Cheng, L. (2022). Generating Diverse and Natural 3D Human Motions From Text. Proceedings of the IEEE/CVF Conference on Computer Vision and Pattern Recognition (CVPR), 5152–5161.</a:t>
            </a:r>
          </a:p>
          <a:p>
            <a:pPr algn="l">
              <a:lnSpc>
                <a:spcPts val="2858"/>
              </a:lnSpc>
            </a:pPr>
          </a:p>
          <a:p>
            <a:pPr algn="l" marL="440859" indent="-220429" lvl="1">
              <a:lnSpc>
                <a:spcPts val="2858"/>
              </a:lnSpc>
              <a:buFont typeface="Arial"/>
              <a:buChar char="•"/>
            </a:pPr>
            <a:r>
              <a:rPr lang="en-US" sz="2041">
                <a:solidFill>
                  <a:srgbClr val="FFFFFF"/>
                </a:solidFill>
                <a:latin typeface="Canva Sans"/>
                <a:ea typeface="Canva Sans"/>
                <a:cs typeface="Canva Sans"/>
                <a:sym typeface="Canva Sans"/>
              </a:rPr>
              <a:t>Xue, L., Constant, N., Roberts, A., Kale, M., Al-Rfou, R., Siddhant, A., Barua, A., &amp; Raffel, C. (2021). mT5: A Massively Multilingual Pre-trained Text-to-Text Transformer. Proceedings of the 2021 Conference of the North American Chapter of the Association for Computational Linguistics: Human Language Technologies, 483–498.</a:t>
            </a:r>
          </a:p>
          <a:p>
            <a:pPr algn="l">
              <a:lnSpc>
                <a:spcPts val="2858"/>
              </a:lnSpc>
            </a:pPr>
          </a:p>
          <a:p>
            <a:pPr algn="l" marL="440859" indent="-220429" lvl="1">
              <a:lnSpc>
                <a:spcPts val="2858"/>
              </a:lnSpc>
              <a:buFont typeface="Arial"/>
              <a:buChar char="•"/>
            </a:pPr>
            <a:r>
              <a:rPr lang="en-US" sz="2041">
                <a:solidFill>
                  <a:srgbClr val="FFFFFF"/>
                </a:solidFill>
                <a:latin typeface="Canva Sans"/>
                <a:ea typeface="Canva Sans"/>
                <a:cs typeface="Canva Sans"/>
                <a:sym typeface="Canva Sans"/>
              </a:rPr>
              <a:t>Devlin, J., Chang, M.-W., Lee, K., &amp; Toutanova, K. (2019). BERT: Pre-training of Deep Bidirectional Transformers for Language Understanding. Proceedings of the 2019 Conference of the North American Chapter of the Association for Computational Linguistics (NAACL).</a:t>
            </a:r>
          </a:p>
          <a:p>
            <a:pPr algn="l" marL="440859" indent="-220429" lvl="1">
              <a:lnSpc>
                <a:spcPts val="2858"/>
              </a:lnSpc>
              <a:buFont typeface="Arial"/>
              <a:buChar char="•"/>
            </a:pPr>
            <a:r>
              <a:rPr lang="en-US" sz="2041">
                <a:solidFill>
                  <a:srgbClr val="FFFFFF"/>
                </a:solidFill>
                <a:latin typeface="Canva Sans"/>
                <a:ea typeface="Canva Sans"/>
                <a:cs typeface="Canva Sans"/>
                <a:sym typeface="Canva Sans"/>
              </a:rPr>
              <a:t>Pires, T., Schlinger, E., &amp; Garrette, D. (2019). How multilingual is Multilingual BERT? Proceedings of the 57th Annual Meeting of the Association for Computational Linguistics (ACL), 4996–5001.</a:t>
            </a:r>
          </a:p>
          <a:p>
            <a:pPr algn="l">
              <a:lnSpc>
                <a:spcPts val="2858"/>
              </a:lnSpc>
            </a:pPr>
          </a:p>
          <a:p>
            <a:pPr algn="l" marL="440859" indent="-220429" lvl="1">
              <a:lnSpc>
                <a:spcPts val="2858"/>
              </a:lnSpc>
              <a:buFont typeface="Arial"/>
              <a:buChar char="•"/>
            </a:pPr>
            <a:r>
              <a:rPr lang="en-US" sz="2041">
                <a:solidFill>
                  <a:srgbClr val="FFFFFF"/>
                </a:solidFill>
                <a:latin typeface="Canva Sans"/>
                <a:ea typeface="Canva Sans"/>
                <a:cs typeface="Canva Sans"/>
                <a:sym typeface="Canva Sans"/>
              </a:rPr>
              <a:t>Schuster, M., &amp; Paliwal, K. K. (1997). Bidirectional recurrent neural networks. IEEE Transactions on Signal Processing, 45(11), 2673–2681.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DAHHhCbDy10</dc:identifier>
  <dcterms:modified xsi:type="dcterms:W3CDTF">2011-08-01T06:04:30Z</dcterms:modified>
  <cp:revision>1</cp:revision>
  <dc:title>NLP presentation</dc:title>
</cp:coreProperties>
</file>